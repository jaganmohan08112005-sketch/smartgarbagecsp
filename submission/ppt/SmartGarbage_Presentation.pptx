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4" r:id="rId26"/>
    <p:sldId id="275" r:id="rId27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Relationship Id="rId27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1.png"/><Relationship Id="rId10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23.jpg"/><Relationship Id="rId17" Type="http://schemas.openxmlformats.org/officeDocument/2006/relationships/image" Target="../media/image24.jpg"/><Relationship Id="rId18" Type="http://schemas.openxmlformats.org/officeDocument/2006/relationships/image" Target="../media/image25.jpg"/><Relationship Id="rId19" Type="http://schemas.openxmlformats.org/officeDocument/2006/relationships/image" Target="../media/image26.jpg"/><Relationship Id="rId20" Type="http://schemas.openxmlformats.org/officeDocument/2006/relationships/image" Target="../media/image27.jpg"/><Relationship Id="rId21" Type="http://schemas.openxmlformats.org/officeDocument/2006/relationships/image" Target="../media/image2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 (Data Science)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</a:t>
            </a: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Regulation: R24    Course Code: R24MSCSP001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SmartGarbage Chintalavalasa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- Community Waste Management Portal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5658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M.Jaganmohan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L.Reshma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P.Narashimha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Murthy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K.Augustin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Paul Kumar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IN" dirty="0" err="1"/>
              <a:t>Mrs.S.Nikhila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IN" dirty="0"/>
              <a:t>Assistant Professor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6446520" cy="32918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943600" cy="3017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SmartGarbage connects ~12,000 residents of Chintalavalasa Gram Panchayat (5 wards) with their Panchayat through one accountable digital channel.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Residents get street-level schedules, complaint tracking with signed links, WhatsApp reporting, PAYT billing and Green Points rewards.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An HMAC-secured IoT telemetry pipeline feeds scikit-learn models for bin overflow ETA, anomaly alerts and route priority - with every action audit-logged.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Flask 3 | PWA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4800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PostgreSQL | 29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8006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scikit-learn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800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2A24"/>
                </a:solidFill>
                <a:latin typeface="Calibri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5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wards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2344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3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user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346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406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tests 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8346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Rs 0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running cost</a:t>
            </a:r>
          </a:p>
        </p:txBody>
      </p:sp>
      <p:pic>
        <p:nvPicPr>
          <p:cNvPr id="13" name="Picture 12" descr="sg_home_1280_4.70x1.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26280"/>
            <a:ext cx="429768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626364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Live portal -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2646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137160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Study area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Chintalavalasa Gram Panchayat, Denkada Mandal, Vizianagaram district, AP - 5 wards, ~12,000 residents.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60604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Stakeholders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Residents | sanitation workers (CV-01...05) | Panchayat admins | state reviewers.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84048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The gap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No digital channel: paper notices, word-of-mouth complaints, zero data for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28016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The five wards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56616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1 - MVGR College Area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2 - Chintalavalasa Junction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3 - RTC Colony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4 - Ramalayam Street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5 - Sai Nagar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29768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~12,000 residents | 2 pickups per ward per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623560"/>
            <a:ext cx="4114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Field-surveyed boundaries &amp; schedules (seed data)</a:t>
            </a:r>
          </a:p>
        </p:txBody>
      </p:sp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75564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53619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Info blackout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93852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No digital schedule - residents miss pickups or wait by the road.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37160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79" y="175564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59" y="153619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Complaints vanish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59" y="193852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Word-of-mouth reporting; nothing is tracked, nothing is 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44728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22783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Segregation unproven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63016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Voluntary 4-stream sorting with no incentive and no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063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79" y="344728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322783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Reactive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363016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Fixed routes ignore real bin fill; overflows discovered 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5A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Paper notices</a:t>
            </a:r>
          </a:p>
        </p:txBody>
      </p:sp>
      <p:sp>
        <p:nvSpPr>
          <p:cNvPr id="20" name="Pentagon 19"/>
          <p:cNvSpPr/>
          <p:nvPr/>
        </p:nvSpPr>
        <p:spPr>
          <a:xfrm>
            <a:off x="2468880" y="5029200"/>
            <a:ext cx="2203704" cy="59436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Missed pickups</a:t>
            </a:r>
          </a:p>
        </p:txBody>
      </p:sp>
      <p:sp>
        <p:nvSpPr>
          <p:cNvPr id="21" name="Chevron 20"/>
          <p:cNvSpPr/>
          <p:nvPr/>
        </p:nvSpPr>
        <p:spPr>
          <a:xfrm>
            <a:off x="4782312" y="5029200"/>
            <a:ext cx="2203704" cy="59436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Street overflow</a:t>
            </a:r>
          </a:p>
        </p:txBody>
      </p:sp>
      <p:sp>
        <p:nvSpPr>
          <p:cNvPr id="22" name="Chevron 21"/>
          <p:cNvSpPr/>
          <p:nvPr/>
        </p:nvSpPr>
        <p:spPr>
          <a:xfrm>
            <a:off x="7095744" y="5029200"/>
            <a:ext cx="2203704" cy="59436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Health &amp; odour risk</a:t>
            </a:r>
          </a:p>
        </p:txBody>
      </p:sp>
      <p:sp>
        <p:nvSpPr>
          <p:cNvPr id="23" name="Chevron 22"/>
          <p:cNvSpPr/>
          <p:nvPr/>
        </p:nvSpPr>
        <p:spPr>
          <a:xfrm>
            <a:off x="9409176" y="5029200"/>
            <a:ext cx="2203704" cy="59436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Citizen distrust</a:t>
            </a:r>
          </a:p>
        </p:txBody>
      </p:sp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35024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Publish street-level collection schedules for every ward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04288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67712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Report &amp; track complaints via signed 90-day tracking links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36976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Reward verified segregation - Green Points + 4-stream declarations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69664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33088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Digitise PAYT billing with UPI payments and receipts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02352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65776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Give admins live telemetry, SLA escalation and audit-grade exports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100%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schedule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852928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&lt;48h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complaint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334256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Rs 0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messaging via WhatsApp</a:t>
            </a:r>
          </a:p>
        </p:txBody>
      </p:sp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3776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All 5 wards: schedules, reporting, transparency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3 roles - citizen, worker, admin (+ public, no login)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IoT ingestion: HMAC-signed telemetry (ESP32-ready)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WhatsApp reporting bot + status alerts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PAYT invoicing, UPI payment, receipts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PWA offline shell + installable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A6B62"/>
                </a:solidFill>
                <a:latin typeface="Calibri"/>
              </a:rPr>
              <a:t>OUT OF SCOPE (honest boundary)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Native iOS/Android apps (PWA covers installability)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Bin hardware manufacturing (ESP32 firmware is future work)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Wards beyond Chintalavalasa (schema is multi-ward ready)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Property-tax or other Panchayat services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Card-on-file payments (UPI/PAYT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Everything demonstrated in this deck runs on the live deployment -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412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Notice boards / word-of-mouth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Generic municipal apps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SmartGarbage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Schedule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Paper only, no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City-level, no 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Street-level, per ward,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Complaint tracking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Email, no SLA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Signed link + 48h SLA + auto-escalation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Incentives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Green Points + PAYT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Data for planning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Siloed dashboards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Live telemetry + ML ETA + state exports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Positioning: ward-level accountability + incentives + live data - the three gaps in existing systems</a:t>
            </a:r>
          </a:p>
        </p:txBody>
      </p:sp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024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Field survey (primary)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Ward boundaries, street-level schedules (10 rows), stakeholder interviews, helpline &amp; contacts - from direct field observation.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IoT telemetry (live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Fill %, temperature, methane ppm, battery, tilt from 10 bins - HMAC-signed pings into PostgreSQL via the production ingestion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Synthetic history (disclosed)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600-row, 48-hour ramping grid per bin gives the fill-rate model velocity on a fresh install - documented as a limitation; retrains on live pings.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No Panchayat stores last year's per-bin history - we say so, size models to the data, and retrain automatically as real pings accumulate.</a:t>
            </a:r>
          </a:p>
        </p:txBody>
      </p:sp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1106424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5780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End-to-end workflow: every arrow is an implemented endpoint, queue job or DB write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5715000"/>
            <a:ext cx="2125065" cy="54864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Intake (web | WhatsApp | IoT)</a:t>
            </a:r>
          </a:p>
        </p:txBody>
      </p:sp>
      <p:sp>
        <p:nvSpPr>
          <p:cNvPr id="6" name="Chevron 5"/>
          <p:cNvSpPr/>
          <p:nvPr/>
        </p:nvSpPr>
        <p:spPr>
          <a:xfrm>
            <a:off x="2783433" y="5715000"/>
            <a:ext cx="2125065" cy="54864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Validate &amp; sign</a:t>
            </a:r>
          </a:p>
        </p:txBody>
      </p:sp>
      <p:sp>
        <p:nvSpPr>
          <p:cNvPr id="7" name="Chevron 6"/>
          <p:cNvSpPr/>
          <p:nvPr/>
        </p:nvSpPr>
        <p:spPr>
          <a:xfrm>
            <a:off x="5018227" y="5715000"/>
            <a:ext cx="2125065" cy="54864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Store (PostgreSQL)</a:t>
            </a:r>
          </a:p>
        </p:txBody>
      </p:sp>
      <p:sp>
        <p:nvSpPr>
          <p:cNvPr id="8" name="Chevron 7"/>
          <p:cNvSpPr/>
          <p:nvPr/>
        </p:nvSpPr>
        <p:spPr>
          <a:xfrm>
            <a:off x="7253020" y="5715000"/>
            <a:ext cx="2125065" cy="54864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Learn (ML)</a:t>
            </a:r>
          </a:p>
        </p:txBody>
      </p:sp>
      <p:sp>
        <p:nvSpPr>
          <p:cNvPr id="9" name="Chevron 8"/>
          <p:cNvSpPr/>
          <p:nvPr/>
        </p:nvSpPr>
        <p:spPr>
          <a:xfrm>
            <a:off x="9487814" y="5715000"/>
            <a:ext cx="2125065" cy="54864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Act (routes | alerts | SLA)</a:t>
            </a:r>
          </a:p>
        </p:txBody>
      </p:sp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 (cont.)</a:t>
            </a:r>
            <a:endParaRPr lang="en-IN" dirty="0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7223760" cy="48920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01000" y="141732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146304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1 |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46504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Forms, WhatsApp bot, HMAC IoT pings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258568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04288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2 |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877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8 Flask route modules, CSRF + rate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099816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145536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3 |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42900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PostgreSQL | 29 tables | Alembic x30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41064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986784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4 |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270248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ETA | anomaly | miss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782312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828032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5 |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11496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Socket.IO dashboards | SSE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62356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566928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6 | 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952744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Docker on Render | /health | PWA</a:t>
            </a:r>
          </a:p>
        </p:txBody>
      </p:sp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pic>
        <p:nvPicPr>
          <p:cNvPr id="3" name="Picture 2" descr="database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12648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23560"/>
            <a:ext cx="61264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29-table relational schema (Alembic-managed, 30 migrations)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463040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78040" y="1645920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527048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Public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901952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Schedules, transparency, FAQ, search - no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542032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78040" y="2724912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06040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Citizen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980944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Complaints + tracking, declarations, PAYT, Green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621024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3803904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85032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059935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Route, geofence enforcement, offload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700016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4882896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764024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38928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Control room: incidents, SLA, OTA firmware, exports</a:t>
            </a:r>
          </a:p>
        </p:txBody>
      </p:sp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pic>
        <p:nvPicPr>
          <p:cNvPr id="3" name="Picture 2" descr="deplo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40" y="1417320"/>
            <a:ext cx="9692640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5431536"/>
            <a:ext cx="9692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8 route modules | 138 routes | 29 tables | 30 Alembic migrations | gunicorn + gevent x2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5669280"/>
            <a:ext cx="2125065" cy="566928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6" name="Chevron 5"/>
          <p:cNvSpPr/>
          <p:nvPr/>
        </p:nvSpPr>
        <p:spPr>
          <a:xfrm>
            <a:off x="2783433" y="5669280"/>
            <a:ext cx="2125065" cy="566928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Docker build</a:t>
            </a:r>
          </a:p>
        </p:txBody>
      </p:sp>
      <p:sp>
        <p:nvSpPr>
          <p:cNvPr id="7" name="Chevron 6"/>
          <p:cNvSpPr/>
          <p:nvPr/>
        </p:nvSpPr>
        <p:spPr>
          <a:xfrm>
            <a:off x="5018227" y="5669280"/>
            <a:ext cx="2125065" cy="566928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flask db upgrade</a:t>
            </a:r>
          </a:p>
        </p:txBody>
      </p:sp>
      <p:sp>
        <p:nvSpPr>
          <p:cNvPr id="8" name="Chevron 7"/>
          <p:cNvSpPr/>
          <p:nvPr/>
        </p:nvSpPr>
        <p:spPr>
          <a:xfrm>
            <a:off x="7253020" y="5669280"/>
            <a:ext cx="2125065" cy="566928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gunicorn + gevent x2</a:t>
            </a:r>
          </a:p>
        </p:txBody>
      </p:sp>
      <p:sp>
        <p:nvSpPr>
          <p:cNvPr id="9" name="Chevron 8"/>
          <p:cNvSpPr/>
          <p:nvPr/>
        </p:nvSpPr>
        <p:spPr>
          <a:xfrm>
            <a:off x="9487814" y="5669280"/>
            <a:ext cx="2125065" cy="566928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/health OK</a:t>
            </a:r>
          </a:p>
        </p:txBody>
      </p:sp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Live Portal (Every Feature)</a:t>
            </a:r>
          </a:p>
        </p:txBody>
      </p:sp>
      <p:pic>
        <p:nvPicPr>
          <p:cNvPr id="3" name="Picture 2" descr="sg_home_1280_3.85x2.08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1371600"/>
            <a:ext cx="3520440" cy="19019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pic>
        <p:nvPicPr>
          <p:cNvPr id="5" name="Picture 4" descr="sg_schedule_1280_3.85x2.08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1371600"/>
            <a:ext cx="3520440" cy="19019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4340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Schedule lookup</a:t>
            </a:r>
          </a:p>
        </p:txBody>
      </p:sp>
      <p:pic>
        <p:nvPicPr>
          <p:cNvPr id="7" name="Picture 6" descr="sg_report_1280_3.85x2.08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8160" y="1371600"/>
            <a:ext cx="3520440" cy="1901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Report &amp; WhatsApp</a:t>
            </a:r>
          </a:p>
        </p:txBody>
      </p:sp>
      <p:pic>
        <p:nvPicPr>
          <p:cNvPr id="9" name="Picture 8" descr="sg_transparency_1280_3.85x2.0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640" y="3794760"/>
            <a:ext cx="3520440" cy="1901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Transparency</a:t>
            </a:r>
          </a:p>
        </p:txBody>
      </p:sp>
      <p:pic>
        <p:nvPicPr>
          <p:cNvPr id="11" name="Picture 10" descr="sg_impact_1280_3.85x2.0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3400" y="3794760"/>
            <a:ext cx="3520440" cy="19019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4340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pic>
        <p:nvPicPr>
          <p:cNvPr id="13" name="Picture 12" descr="sg_track_1280_3.85x2.0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8160" y="3794760"/>
            <a:ext cx="3520440" cy="19019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Complaint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Captured from the live deployment - desktop PWA (1280px)</a:t>
            </a:r>
          </a:p>
        </p:txBody>
      </p:sp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~12k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residents 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64992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5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wards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29 / 30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tables / migrations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7696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406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tests 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34290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54680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566160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Audit trail on every privileged action; CSV/JSON state-compliance exports.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6247" y="34290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19" y="3154680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566160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PAYT + 4-stream declarations steer waste to compost/recycle, not landfill.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50292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79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66359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WhatsApp-first access - no app store, works on basic Android; offline PWA shell.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7" y="50292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4754879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5166359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Queue with retries + dead-letter alerts; /health; Prometheus-style metrics.</a:t>
            </a:r>
          </a:p>
        </p:txBody>
      </p:sp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No historical bin telemetry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532120" y="1874520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463040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72768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47088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600-row synthetic grid + auto-retrain on live pings - limitation disclosed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44368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54096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28416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Free tier: no worker service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3355848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944368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054096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28416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In-process RQ worker, retry policies, dead-letter alerts, /health probes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25696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35424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9744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1 vCPU page-load stalls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32120" y="4837176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4425696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35424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09744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gevent x2 workers, compression, Redis cache, offline PWA shell</a:t>
            </a:r>
          </a:p>
        </p:txBody>
      </p:sp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6309360" cy="274320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SmartGarbage replaces a notice board and a phone tree with one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accountable, data-producing channel - schedules people can trust,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complaints that cannot vanish, and operations data the Panchayat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can finally act 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One accountable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1488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Data-driven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4336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Ready for the next ward</a:t>
            </a:r>
          </a:p>
        </p:txBody>
      </p:sp>
      <p:pic>
        <p:nvPicPr>
          <p:cNvPr id="7" name="Picture 6" descr="sg_transparency_1280_4.80x3.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54480"/>
            <a:ext cx="438912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4754880"/>
            <a:ext cx="4389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Transparency dashboard - the Panchayat's public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A24"/>
                </a:solidFill>
                <a:latin typeface="Calibri"/>
              </a:rPr>
              <a:t>Live: smartgarbage.onrender.com  |  fully open to inspection today</a:t>
            </a:r>
          </a:p>
        </p:txBody>
      </p:sp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Pentagon 2"/>
          <p:cNvSpPr/>
          <p:nvPr/>
        </p:nvSpPr>
        <p:spPr>
          <a:xfrm>
            <a:off x="548640" y="1737360"/>
            <a:ext cx="2683764" cy="91440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ESP32 on real bins</a:t>
            </a:r>
          </a:p>
        </p:txBody>
      </p:sp>
      <p:sp>
        <p:nvSpPr>
          <p:cNvPr id="4" name="Chevron 3"/>
          <p:cNvSpPr/>
          <p:nvPr/>
        </p:nvSpPr>
        <p:spPr>
          <a:xfrm>
            <a:off x="3342132" y="1737360"/>
            <a:ext cx="2683764" cy="91440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Retrain on live pings</a:t>
            </a:r>
          </a:p>
        </p:txBody>
      </p:sp>
      <p:sp>
        <p:nvSpPr>
          <p:cNvPr id="5" name="Chevron 4"/>
          <p:cNvSpPr/>
          <p:nvPr/>
        </p:nvSpPr>
        <p:spPr>
          <a:xfrm>
            <a:off x="6135624" y="1737360"/>
            <a:ext cx="2683764" cy="91440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Nightly route optimisation</a:t>
            </a:r>
          </a:p>
        </p:txBody>
      </p:sp>
      <p:sp>
        <p:nvSpPr>
          <p:cNvPr id="6" name="Chevron 5"/>
          <p:cNvSpPr/>
          <p:nvPr/>
        </p:nvSpPr>
        <p:spPr>
          <a:xfrm>
            <a:off x="8929116" y="1737360"/>
            <a:ext cx="2683764" cy="91440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District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OTA firmware channel already ships in the admin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model_retraining_job swaps the synthetic grid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ETA + miss predictions blended into worker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Multi-panchayat schema is already ward-scoped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Each step reuses what already ships - no rewrite, only new data and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[1]  Swachh Bharat Mission (Grameen) Phase-II guidelines, Ministry of Jal Shakti.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[2]  Web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[3]  Flask 3.x documentation (Pallets Projects) - application factory, blueprints.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[4]  SQLAlchemy 2.0 documentation; Alembic migration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[5]  Machine Learning &amp; Predictive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[6]  Liu, Ting &amp; Zhou (2008), Isolation Forest, AAAI - the anomaly model actually deployed.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[7]  scikit-learn - HistGradientBoostingRegressor (overflow ETA) &amp; IsolationForest (anomaly detection), as used in app/ml_model.py.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[8]  Anagnostopoulos et al. (2015), Waste Management 45, 34-41 - IoT bin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[9]  Chen et al. (2020) - ensemble learning for short-term waste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[10]  Accessibility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93776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[11]  WCAG 2.1 Level AA (W3C); OWASP Top 10 and secure-headers project.</a:t>
            </a:r>
          </a:p>
        </p:txBody>
      </p:sp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11680" y="1737360"/>
            <a:ext cx="8138160" cy="310896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Open Floor for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94760" y="521208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4"/>
                </a:solidFill>
                <a:latin typeface="Calibri"/>
              </a:rPr>
              <a:t>Live demo: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Quality Assurance - The Photo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6949440" cy="105156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581912"/>
            <a:ext cx="548640" cy="548640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58521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64792"/>
            <a:ext cx="5852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ONNX photo gate: 224px ImageNet-normalised input; a photo ships only when p_reject &lt; 0.70.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6949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770632"/>
            <a:ext cx="548640" cy="548640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8521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53512"/>
            <a:ext cx="5852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Dual canary probes (reject + accept) score the deployed model on schedule; breaches raise day-deduplicated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6949440" cy="105156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959352"/>
            <a:ext cx="548640" cy="548640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94759"/>
            <a:ext cx="58521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42231"/>
            <a:ext cx="5852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Weekly p_reject drift vs a signed baseline; mean shift &gt; 0.01, floor drop &gt; 0.005 or any score &lt; 0.90 files an 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6949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5148072"/>
            <a:ext cx="548640" cy="548640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983480"/>
            <a:ext cx="58521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30952"/>
            <a:ext cx="5852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Relabelled false positives ingested exactly once, gated at &gt;= 0.90 validation accuracy, baseline auto-refreshed.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17320"/>
            <a:ext cx="374903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96.6%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validation top-1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898648"/>
            <a:ext cx="374903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0.9998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canary p_reject (live)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379976"/>
            <a:ext cx="374903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406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automated tests green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1F2A24"/>
                </a:solidFill>
                <a:latin typeface="Calibri"/>
              </a:rPr>
              <a:t>A second ML model keeps non-garbage photos out of the worker queue - and monitors its own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2061</Words>
  <Application>Microsoft Office PowerPoint</Application>
  <PresentationFormat>Widescreen</PresentationFormat>
  <Paragraphs>209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Project  Branch: CSE-Artificial Intelligence &amp; Machine Learning Department: Data Engineering  Semester: V    Section: A          Regulation: R24             Course Code: R24MSCSP001</dc:title>
  <dc:creator>Sushma Vatekar</dc:creator>
  <cp:lastModifiedBy>Chandini Mopada</cp:lastModifiedBy>
  <cp:revision>7</cp:revision>
  <dcterms:created xsi:type="dcterms:W3CDTF">2025-09-22T15:29:51Z</dcterms:created>
  <dcterms:modified xsi:type="dcterms:W3CDTF">2026-07-03T18:10:12Z</dcterms:modified>
</cp:coreProperties>
</file>