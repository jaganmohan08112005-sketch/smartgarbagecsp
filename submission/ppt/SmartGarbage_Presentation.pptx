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2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74" r:id="rId26"/>
    <p:sldId id="275" r:id="rId27"/>
    <p:sldId id="267" r:id="rId13"/>
    <p:sldId id="268" r:id="rId14"/>
    <p:sldId id="269" r:id="rId15"/>
    <p:sldId id="271" r:id="rId16"/>
    <p:sldId id="270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F22E713D-B38C-44B3-AA1B-BF7E4901F54A}">
          <p14:sldIdLst>
            <p14:sldId id="256"/>
            <p14:sldId id="257"/>
            <p14:sldId id="258"/>
            <p14:sldId id="260"/>
            <p14:sldId id="259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1"/>
            <p14:sldId id="270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2.xml"/><Relationship Id="rId27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8C77DDF-0A27-67B6-5BDF-F285B4C7176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1F2C14-519F-1665-5873-A72F255643B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B00D6-E1FF-4B73-A053-E585B1FBE901}" type="datetimeFigureOut">
              <a:rPr lang="en-IN" smtClean="0"/>
              <a:t>03-07-2026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24DCC8-0A82-FBB1-C5C8-0A3B68A7E0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7E76C3-C0CF-299E-70A1-6269DB65913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8F4E45-0858-4043-A964-1C66277AD1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70352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934C36-70B1-45F6-9FDE-F1D24E79F56D}" type="datetimeFigureOut">
              <a:rPr lang="en-IN" smtClean="0"/>
              <a:t>03-07-2026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EF6A76-F437-4B4B-8482-7210935BA7C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86623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EF6A76-F437-4B4B-8482-7210935BA7C7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590425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ACCCB-E175-57DF-24EA-FD7B125D5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FCE3B5-1C30-5CEF-2519-0F3E170553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DF157-475F-2413-9A18-8C99B0F37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05323-E29B-4B70-A94E-1594BD5CBD7E}" type="datetime1">
              <a:rPr lang="en-IN" smtClean="0"/>
              <a:t>03-07-2026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620D2-DC7F-B2F2-0EA2-DA548AEDF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35AC5-403F-A47E-E941-5EEB21D46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949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9CD6A-AF0F-7AD6-7A7C-AE6A86E81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8BD31-11F1-A76F-4F35-D68096911B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168E4-CF8E-21D0-0E03-53396B119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94E78-88E1-46A4-AF1B-828B5E375FA2}" type="datetime1">
              <a:rPr lang="en-IN" smtClean="0"/>
              <a:t>03-07-2026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F465C-6C94-5A19-8095-13922281C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06AA8D-3739-E96E-0A3F-1FFC9B3F8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6017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45A6B-F1C1-9EB4-A060-5B25A0F3E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61C07-B202-8596-07A9-22822C9DF1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4F265-5CE9-9191-6286-2C9AE5F0B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79717-40FC-4C73-B8FA-A58DAB8A6201}" type="datetime1">
              <a:rPr lang="en-IN" smtClean="0"/>
              <a:t>03-07-2026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1E1B0-75C0-03D7-9824-CA075284B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89738F-0524-AB68-D6DB-3A4E3B30C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0770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CF7E3-61D6-8491-1328-714F59703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D3BCC-F5B5-90E7-1B9B-4B86B2286D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C0F7E7-5B74-070A-47CE-41CB80123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422ED-FA86-4920-5DDD-EF5BAB071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21CF7-758A-44DA-BCBF-28E94B183FAA}" type="datetime1">
              <a:rPr lang="en-IN" smtClean="0"/>
              <a:t>03-07-2026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2C7351-93DD-02B8-418D-4758BB52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1A715-8247-0449-9A75-090C2AC04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0775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80879-59A2-9993-5923-31956486C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34AD61-0E56-D989-0F6E-E2475CED0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878A4-D7B6-8C42-F70F-B46C102B4C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60B250-122E-ED60-C1CE-B01FF6F643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170AD3-919D-BA8B-B107-88B0AE5EC8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676A1F-60B9-95CE-E92F-BE7C1FBC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49FDD-8BD6-49CA-B47B-D82B5753DDDF}" type="datetime1">
              <a:rPr lang="en-IN" smtClean="0"/>
              <a:t>03-07-2026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05E6BD-7F75-F160-B5AE-BC0CB39A0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C4F82A-2F5F-AFF5-B7E5-195A9F724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375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701F4-BED2-1AAD-97E2-15FD1168B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E9C3BD-B4F1-048A-3697-B165EAC08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971C4-7117-442F-820E-CC01BC240CFF}" type="datetime1">
              <a:rPr lang="en-IN" smtClean="0"/>
              <a:t>03-07-2026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03806D-6534-3CB8-9569-E2F8462C4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5F470-2CEF-BAFE-7D89-13162D558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8153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661FC1-61B2-0BEC-36EF-3DE62DB9A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54E5A-9C4D-4470-846F-ADA8C588B6A9}" type="datetime1">
              <a:rPr lang="en-IN" smtClean="0"/>
              <a:t>03-07-2026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D6DB32-5E56-9AF3-6840-1B34E91C4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A33A9D-2826-6D71-05BE-6B8D4570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505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3E002-737C-263E-A4E0-BF90604D8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599A4-C8E8-FC9F-25B9-D03380211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0CDDF6-A347-9627-45DD-1B0CAA19CE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2C2D6B-F737-2EBE-5E8C-0BB78FDFA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39F083-6D5B-4B0A-A053-F75A84FB0730}" type="datetime1">
              <a:rPr lang="en-IN" smtClean="0"/>
              <a:t>03-07-2026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785B18-D373-F253-5581-CF1C04E35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D5C7CE-A6DD-CD7E-7AF4-719C1B646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2005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8CCD2-0CAD-E143-4AED-BF6232E4D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E0C940-6F35-3FA0-09D1-81974FB73A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133F76-869F-7C98-8621-02EAAF7F9E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BF9FDD-7956-7A3E-DF1B-E917B4C39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14738-DEA0-4125-998D-ECD817967A89}" type="datetime1">
              <a:rPr lang="en-IN" smtClean="0"/>
              <a:t>03-07-2026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8230D-B290-ED5F-5C68-CE723BCCA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19775D-FAF7-3543-22DF-BD7C5A373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0706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65FB7-6D0C-1E16-0A66-E68B9D2C0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CEE2B5-8C5E-58D4-A3F9-3A30318733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A91197-E419-0573-70A8-DE688D37A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F1ED1-E35F-4D19-85BD-C5B2E1E72F64}" type="datetime1">
              <a:rPr lang="en-IN" smtClean="0"/>
              <a:t>03-07-2026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CDE99-3310-5C8E-4F2A-AC0ACD95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98FA3-7C23-3214-D38F-392AD8DFD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22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A8C7CF-4623-DEC8-14AE-619295942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61983F-2C6C-FD2E-187E-44A0B441A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26E63-6CAC-E9E4-BF3F-C256D7931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85591-7348-4410-8FD7-DA388D80B05C}" type="datetime1">
              <a:rPr lang="en-IN" smtClean="0"/>
              <a:t>03-07-2026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E2C139-7A5D-5405-E52E-049003BEA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544655-C0E1-8A45-9962-DEB5CF93A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18279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B3B46B-1610-0CE6-7155-D123E3741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B4927F-6A1D-B152-1C11-14603B53F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B9BDF-D021-93E2-48DC-E3FB251E0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E5703-3C09-48F0-BC15-A8F80091436C}" type="datetime1">
              <a:rPr lang="en-IN" smtClean="0"/>
              <a:t>03-07-2026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AC4683-C2DB-CF7A-5C79-0094EA7CFA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27840-6CAF-B6FA-3558-8E7408C33B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9114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1.png"/><Relationship Id="rId10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16.png"/><Relationship Id="rId14" Type="http://schemas.openxmlformats.org/officeDocument/2006/relationships/image" Target="../media/image17.png"/><Relationship Id="rId15" Type="http://schemas.openxmlformats.org/officeDocument/2006/relationships/image" Target="../media/image18.png"/><Relationship Id="rId16" Type="http://schemas.openxmlformats.org/officeDocument/2006/relationships/image" Target="../media/image23.jpg"/><Relationship Id="rId17" Type="http://schemas.openxmlformats.org/officeDocument/2006/relationships/image" Target="../media/image24.jpg"/><Relationship Id="rId18" Type="http://schemas.openxmlformats.org/officeDocument/2006/relationships/image" Target="../media/image25.jpg"/><Relationship Id="rId19" Type="http://schemas.openxmlformats.org/officeDocument/2006/relationships/image" Target="../media/image26.jpg"/><Relationship Id="rId20" Type="http://schemas.openxmlformats.org/officeDocument/2006/relationships/image" Target="../media/image27.jpg"/><Relationship Id="rId21" Type="http://schemas.openxmlformats.org/officeDocument/2006/relationships/image" Target="../media/image2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0BAEA-A6E1-3B7C-66B0-6AA9B4168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0147" y="1087567"/>
            <a:ext cx="9518554" cy="814592"/>
          </a:xfrm>
        </p:spPr>
        <p:txBody>
          <a:bodyPr>
            <a:normAutofit fontScale="90000"/>
          </a:bodyPr>
          <a:lstStyle/>
          <a:p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Branch: CSE (Data Science)</a:t>
            </a:r>
            <a:endParaRPr lang="en-IN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Department: Data Engineering</a:t>
            </a:r>
          </a:p>
          <a:p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Semester: V    Section: A    Regulation: R24    Course Code: R24MSCSP001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87393A-5152-2239-E68B-758F10844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5847" y="1982521"/>
            <a:ext cx="9144000" cy="851288"/>
          </a:xfrm>
        </p:spPr>
        <p:txBody>
          <a:bodyPr>
            <a:normAutofit/>
          </a:bodyPr>
          <a:lstStyle/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Title:  SmartGarbage Chintalavalasa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 - Community Waste Management Portal</a:t>
            </a: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Number: 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0522D6-D17F-C571-6E54-DC1EB5D4FD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4835658"/>
              </p:ext>
            </p:extLst>
          </p:nvPr>
        </p:nvGraphicFramePr>
        <p:xfrm>
          <a:off x="3123336" y="2841523"/>
          <a:ext cx="6246761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664">
                  <a:extLst>
                    <a:ext uri="{9D8B030D-6E8A-4147-A177-3AD203B41FA5}">
                      <a16:colId xmlns:a16="http://schemas.microsoft.com/office/drawing/2014/main" val="2978184859"/>
                    </a:ext>
                  </a:extLst>
                </a:gridCol>
                <a:gridCol w="2408903">
                  <a:extLst>
                    <a:ext uri="{9D8B030D-6E8A-4147-A177-3AD203B41FA5}">
                      <a16:colId xmlns:a16="http://schemas.microsoft.com/office/drawing/2014/main" val="2193938237"/>
                    </a:ext>
                  </a:extLst>
                </a:gridCol>
                <a:gridCol w="2802194">
                  <a:extLst>
                    <a:ext uri="{9D8B030D-6E8A-4147-A177-3AD203B41FA5}">
                      <a16:colId xmlns:a16="http://schemas.microsoft.com/office/drawing/2014/main" val="2017919128"/>
                    </a:ext>
                  </a:extLst>
                </a:gridCol>
              </a:tblGrid>
              <a:tr h="280548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</a:t>
                      </a:r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 No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Register Number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Student 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4480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1.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24331A4441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M.Jaganmohan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102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2.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24331A4434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L.Reshma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9443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3.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24331A4446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P.Narashimha</a:t>
                      </a:r>
                      <a:r>
                        <a:rPr lang="en-I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Murthy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9527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4.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24331A4426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K.Augustin</a:t>
                      </a:r>
                      <a:r>
                        <a:rPr lang="en-I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Paul Kumar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68722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B39C9FE-9A55-D878-4113-BB45C8E42B25}"/>
              </a:ext>
            </a:extLst>
          </p:cNvPr>
          <p:cNvSpPr txBox="1"/>
          <p:nvPr/>
        </p:nvSpPr>
        <p:spPr>
          <a:xfrm>
            <a:off x="666564" y="5004620"/>
            <a:ext cx="47805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 Name: </a:t>
            </a:r>
            <a:r>
              <a:rPr lang="en-IN" dirty="0" err="1"/>
              <a:t>Mrs.S.Nikhila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Designation: </a:t>
            </a:r>
            <a:r>
              <a:rPr lang="en-IN" dirty="0"/>
              <a:t>Assistant Professor 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925BDB-B544-A468-80FA-5C328DABA918}"/>
              </a:ext>
            </a:extLst>
          </p:cNvPr>
          <p:cNvSpPr txBox="1"/>
          <p:nvPr/>
        </p:nvSpPr>
        <p:spPr>
          <a:xfrm>
            <a:off x="666564" y="5770433"/>
            <a:ext cx="41280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Coordinator: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                                           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E228F4-F1C6-996C-1333-E77944D0112F}"/>
              </a:ext>
            </a:extLst>
          </p:cNvPr>
          <p:cNvSpPr txBox="1"/>
          <p:nvPr/>
        </p:nvSpPr>
        <p:spPr>
          <a:xfrm>
            <a:off x="7441620" y="5767836"/>
            <a:ext cx="38569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 of the Department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Dr. V. Jyothi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Associate Professor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A81387-CAA0-B664-E5E7-652103F746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5902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20921-4932-359B-99DF-4AA4E8AA8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6446520" cy="32918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5943600" cy="3017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50" b="0">
                <a:solidFill>
                  <a:srgbClr val="1F2A24"/>
                </a:solidFill>
                <a:latin typeface="Calibri"/>
              </a:rPr>
              <a:t>SmartGarbage connects ~12,000 residents of Chintalavalasa Gram Panchayat (5 wards) with their Panchayat through one accountable digital channel.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50" b="0">
                <a:solidFill>
                  <a:srgbClr val="1F2A24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50" b="0">
                <a:solidFill>
                  <a:srgbClr val="1F2A24"/>
                </a:solidFill>
                <a:latin typeface="Calibri"/>
              </a:rPr>
              <a:t>Residents get street-level schedules, complaint tracking with signed links, WhatsApp reporting, PAYT billing and Green Points rewards.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50" b="0">
                <a:solidFill>
                  <a:srgbClr val="1F2A24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50" b="0">
                <a:solidFill>
                  <a:srgbClr val="1F2A24"/>
                </a:solidFill>
                <a:latin typeface="Calibri"/>
              </a:rPr>
              <a:t>An HMAC-secured IoT telemetry pipeline feeds scikit-learn models for bin overflow ETA, anomaly alerts and route priority - with every action audit-logged.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8006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Flask 3 | PWA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31720" y="48006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PostgreSQL | 29 tables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48006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scikit-learn 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4800600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2A24"/>
                </a:solidFill>
                <a:latin typeface="Calibri"/>
              </a:rPr>
              <a:t>Docker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234440"/>
            <a:ext cx="2057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800" b="1">
                <a:solidFill>
                  <a:srgbClr val="1B5E3B"/>
                </a:solidFill>
                <a:latin typeface="Calibri"/>
              </a:rPr>
              <a:t>5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wards live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234440"/>
            <a:ext cx="2057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800" b="1">
                <a:solidFill>
                  <a:srgbClr val="1B5E3B"/>
                </a:solidFill>
                <a:latin typeface="Calibri"/>
              </a:rPr>
              <a:t>3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user roles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834640"/>
            <a:ext cx="2057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800" b="1">
                <a:solidFill>
                  <a:srgbClr val="1B5E3B"/>
                </a:solidFill>
                <a:latin typeface="Calibri"/>
              </a:rPr>
              <a:t>406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tests green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834640"/>
            <a:ext cx="2057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800" b="1">
                <a:solidFill>
                  <a:srgbClr val="1B5E3B"/>
                </a:solidFill>
                <a:latin typeface="Calibri"/>
              </a:rPr>
              <a:t>Rs 0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running cost</a:t>
            </a:r>
          </a:p>
        </p:txBody>
      </p:sp>
      <p:pic>
        <p:nvPicPr>
          <p:cNvPr id="13" name="Picture 12" descr="sg_home_1280_4.70x1.8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526280"/>
            <a:ext cx="4297680" cy="1691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6263640"/>
            <a:ext cx="42976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A6B62"/>
                </a:solidFill>
                <a:latin typeface="Calibri"/>
              </a:rPr>
              <a:t>Live portal - smartgarbage.onrender.com</a:t>
            </a:r>
          </a:p>
        </p:txBody>
      </p:sp>
    </p:spTree>
    <p:extLst>
      <p:ext uri="{BB962C8B-B14F-4D97-AF65-F5344CB8AC3E}">
        <p14:creationId xmlns:p14="http://schemas.microsoft.com/office/powerpoint/2010/main" val="460425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5A163-6249-C153-BF1D-0EAD5B5D0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368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426464"/>
            <a:ext cx="566928" cy="566928"/>
          </a:xfrm>
          <a:prstGeom prst="ellipse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1872" y="1371600"/>
            <a:ext cx="5870448" cy="8412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5E3B"/>
                </a:solidFill>
                <a:latin typeface="Calibri"/>
              </a:rPr>
              <a:t>Study area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A6B62"/>
                </a:solidFill>
                <a:latin typeface="Calibri"/>
              </a:rPr>
              <a:t>Chintalavalasa Gram Panchayat, Denkada Mandal, Vizianagaram district, AP - 5 wards, ~12,000 residents.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660904"/>
            <a:ext cx="566928" cy="566928"/>
          </a:xfrm>
          <a:prstGeom prst="ellipse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606040"/>
            <a:ext cx="5870448" cy="8412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5E3B"/>
                </a:solidFill>
                <a:latin typeface="Calibri"/>
              </a:rPr>
              <a:t>Stakeholders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A6B62"/>
                </a:solidFill>
                <a:latin typeface="Calibri"/>
              </a:rPr>
              <a:t>Residents | sanitation workers (CV-01...05) | Panchayat admins | state reviewers.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3840480"/>
            <a:ext cx="5870448" cy="8412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5E3B"/>
                </a:solidFill>
                <a:latin typeface="Calibri"/>
              </a:rPr>
              <a:t>The gap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A6B62"/>
                </a:solidFill>
                <a:latin typeface="Calibri"/>
              </a:rPr>
              <a:t>No digital channel: paper notices, word-of-mouth complaints, zero data for planning.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280160"/>
            <a:ext cx="41148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B5E3B"/>
                </a:solidFill>
                <a:latin typeface="Calibri"/>
              </a:rPr>
              <a:t>The five wards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828800"/>
            <a:ext cx="356616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Ward 1 - MVGR College Area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Ward 2 - Chintalavalasa Junction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Ward 3 - RTC Colony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Ward 4 - Ramalayam Street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Ward 5 - Sai Nagar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4297680"/>
            <a:ext cx="3566160" cy="868680"/>
          </a:xfrm>
          <a:prstGeom prst="roundRect">
            <a:avLst>
              <a:gd name="adj" fmla="val 6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~12,000 residents | 2 pickups per ward per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623560"/>
            <a:ext cx="41148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A6B62"/>
                </a:solidFill>
                <a:latin typeface="Calibri"/>
              </a:rPr>
              <a:t>Field-surveyed boundaries &amp; schedules (seed data)</a:t>
            </a:r>
          </a:p>
        </p:txBody>
      </p:sp>
    </p:spTree>
    <p:extLst>
      <p:ext uri="{BB962C8B-B14F-4D97-AF65-F5344CB8AC3E}">
        <p14:creationId xmlns:p14="http://schemas.microsoft.com/office/powerpoint/2010/main" val="53244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CF1CE-E15D-F045-5F27-8386F7885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755648"/>
            <a:ext cx="658368" cy="658368"/>
          </a:xfrm>
          <a:prstGeom prst="ellipse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000" b="0">
                <a:solidFill>
                  <a:srgbClr val="1B5E3B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19" y="1536192"/>
            <a:ext cx="42062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5E3B"/>
                </a:solidFill>
                <a:latin typeface="Calibri"/>
              </a:rPr>
              <a:t>Info blackout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938528"/>
            <a:ext cx="4206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5A6B62"/>
                </a:solidFill>
                <a:latin typeface="Calibri"/>
              </a:rPr>
              <a:t>No digital schedule - residents miss pickups or wait by the road.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79" y="137160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3679" y="1755648"/>
            <a:ext cx="658368" cy="658368"/>
          </a:xfrm>
          <a:prstGeom prst="ellipse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000" b="0">
                <a:solidFill>
                  <a:srgbClr val="1B5E3B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59" y="1536192"/>
            <a:ext cx="42062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5E3B"/>
                </a:solidFill>
                <a:latin typeface="Calibri"/>
              </a:rPr>
              <a:t>Complaints vanish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59" y="1938528"/>
            <a:ext cx="4206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5A6B62"/>
                </a:solidFill>
                <a:latin typeface="Calibri"/>
              </a:rPr>
              <a:t>Word-of-mouth reporting; nothing is tracked, nothing is proved.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63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" y="3447288"/>
            <a:ext cx="658368" cy="658368"/>
          </a:xfrm>
          <a:prstGeom prst="ellipse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000" b="0">
                <a:solidFill>
                  <a:srgbClr val="1B5E3B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3227832"/>
            <a:ext cx="42062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5E3B"/>
                </a:solidFill>
                <a:latin typeface="Calibri"/>
              </a:rPr>
              <a:t>Segregation unproven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3630168"/>
            <a:ext cx="4206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5A6B62"/>
                </a:solidFill>
                <a:latin typeface="Calibri"/>
              </a:rPr>
              <a:t>Voluntary 4-stream sorting with no incentive and no record.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79" y="3063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79" y="3447288"/>
            <a:ext cx="658368" cy="658368"/>
          </a:xfrm>
          <a:prstGeom prst="ellipse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000" b="0">
                <a:solidFill>
                  <a:srgbClr val="1B5E3B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59" y="3227832"/>
            <a:ext cx="42062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5E3B"/>
                </a:solidFill>
                <a:latin typeface="Calibri"/>
              </a:rPr>
              <a:t>Reactive 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59" y="3630168"/>
            <a:ext cx="4206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5A6B62"/>
                </a:solidFill>
                <a:latin typeface="Calibri"/>
              </a:rPr>
              <a:t>Fixed routes ignore real bin fill; overflows discovered late.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737360" cy="502920"/>
          </a:xfrm>
          <a:prstGeom prst="roundRect">
            <a:avLst>
              <a:gd name="adj" fmla="val 50000"/>
            </a:avLst>
          </a:prstGeom>
          <a:solidFill>
            <a:srgbClr val="5A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Paper notices</a:t>
            </a:r>
          </a:p>
        </p:txBody>
      </p:sp>
      <p:sp>
        <p:nvSpPr>
          <p:cNvPr id="20" name="Pentagon 19"/>
          <p:cNvSpPr/>
          <p:nvPr/>
        </p:nvSpPr>
        <p:spPr>
          <a:xfrm>
            <a:off x="2468880" y="5029200"/>
            <a:ext cx="2203704" cy="594360"/>
          </a:xfrm>
          <a:prstGeom prst="homePlat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Missed pickups</a:t>
            </a:r>
          </a:p>
        </p:txBody>
      </p:sp>
      <p:sp>
        <p:nvSpPr>
          <p:cNvPr id="21" name="Chevron 20"/>
          <p:cNvSpPr/>
          <p:nvPr/>
        </p:nvSpPr>
        <p:spPr>
          <a:xfrm>
            <a:off x="4782312" y="5029200"/>
            <a:ext cx="2203704" cy="594360"/>
          </a:xfrm>
          <a:prstGeom prst="chevron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Street overflow</a:t>
            </a:r>
          </a:p>
        </p:txBody>
      </p:sp>
      <p:sp>
        <p:nvSpPr>
          <p:cNvPr id="22" name="Chevron 21"/>
          <p:cNvSpPr/>
          <p:nvPr/>
        </p:nvSpPr>
        <p:spPr>
          <a:xfrm>
            <a:off x="7095744" y="5029200"/>
            <a:ext cx="2203704" cy="594360"/>
          </a:xfrm>
          <a:prstGeom prst="chevron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Health &amp; odour risk</a:t>
            </a:r>
          </a:p>
        </p:txBody>
      </p:sp>
      <p:sp>
        <p:nvSpPr>
          <p:cNvPr id="23" name="Chevron 22"/>
          <p:cNvSpPr/>
          <p:nvPr/>
        </p:nvSpPr>
        <p:spPr>
          <a:xfrm>
            <a:off x="9409176" y="5029200"/>
            <a:ext cx="2203704" cy="594360"/>
          </a:xfrm>
          <a:prstGeom prst="chevron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Citizen distrust</a:t>
            </a:r>
          </a:p>
        </p:txBody>
      </p:sp>
    </p:spTree>
    <p:extLst>
      <p:ext uri="{BB962C8B-B14F-4D97-AF65-F5344CB8AC3E}">
        <p14:creationId xmlns:p14="http://schemas.microsoft.com/office/powerpoint/2010/main" val="575843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A1DCD-EEEE-3347-5C0C-10E73A5FE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 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371600"/>
            <a:ext cx="603504" cy="603504"/>
          </a:xfrm>
          <a:prstGeom prst="ellips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335024"/>
            <a:ext cx="603504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F2A24"/>
                </a:solidFill>
                <a:latin typeface="Calibri"/>
              </a:rPr>
              <a:t>Publish street-level collection schedules for every ward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304288"/>
            <a:ext cx="603504" cy="603504"/>
          </a:xfrm>
          <a:prstGeom prst="ellips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267712"/>
            <a:ext cx="603504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F2A24"/>
                </a:solidFill>
                <a:latin typeface="Calibri"/>
              </a:rPr>
              <a:t>Report &amp; track complaints via signed 90-day tracking links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236976"/>
            <a:ext cx="603504" cy="603504"/>
          </a:xfrm>
          <a:prstGeom prst="ellips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200400"/>
            <a:ext cx="603504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F2A24"/>
                </a:solidFill>
                <a:latin typeface="Calibri"/>
              </a:rPr>
              <a:t>Reward verified segregation - Green Points + 4-stream declarations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169664"/>
            <a:ext cx="603504" cy="603504"/>
          </a:xfrm>
          <a:prstGeom prst="ellips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133088"/>
            <a:ext cx="603504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F2A24"/>
                </a:solidFill>
                <a:latin typeface="Calibri"/>
              </a:rPr>
              <a:t>Digitise PAYT billing with UPI payments and receipts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5102352"/>
            <a:ext cx="603504" cy="603504"/>
          </a:xfrm>
          <a:prstGeom prst="ellips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065776"/>
            <a:ext cx="603504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F2A24"/>
                </a:solidFill>
                <a:latin typeface="Calibri"/>
              </a:rPr>
              <a:t>Give admins live telemetry, SLA escalation and audit-grade exports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37160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600" b="1">
                <a:solidFill>
                  <a:srgbClr val="1B5E3B"/>
                </a:solidFill>
                <a:latin typeface="Calibri"/>
              </a:rPr>
              <a:t>100%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schedule visibility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852928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600" b="1">
                <a:solidFill>
                  <a:srgbClr val="1B5E3B"/>
                </a:solidFill>
                <a:latin typeface="Calibri"/>
              </a:rPr>
              <a:t>&lt;48h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complaint SLA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4334256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600" b="1">
                <a:solidFill>
                  <a:srgbClr val="1B5E3B"/>
                </a:solidFill>
                <a:latin typeface="Calibri"/>
              </a:rPr>
              <a:t>Rs 0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messaging via WhatsApp</a:t>
            </a:r>
          </a:p>
        </p:txBody>
      </p:sp>
    </p:spTree>
    <p:extLst>
      <p:ext uri="{BB962C8B-B14F-4D97-AF65-F5344CB8AC3E}">
        <p14:creationId xmlns:p14="http://schemas.microsoft.com/office/powerpoint/2010/main" val="2217951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8FEA8-C384-12D9-AB4F-914A0FC4F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Scope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5486400" cy="3977639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49377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5E3B"/>
                </a:solidFill>
                <a:latin typeface="Calibri"/>
              </a:rPr>
              <a:t>IN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4937760" cy="320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All 5 wards: schedules, reporting, transparency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3 roles - citizen, worker, admin (+ public, no login)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IoT ingestion: HMAC-signed telemetry (ESP32-ready)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WhatsApp reporting bot + status alerts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PAYT invoicing, UPI payment, receipts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PWA offline shell + installable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34924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508760"/>
            <a:ext cx="47548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5A6B62"/>
                </a:solidFill>
                <a:latin typeface="Calibri"/>
              </a:rPr>
              <a:t>OUT OF SCOPE (honest boundary)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965960"/>
            <a:ext cx="4754880" cy="320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Native iOS/Android apps (PWA covers installability)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Bin hardware manufacturing (ESP32 firmware is future work)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Wards beyond Chintalavalasa (schema is multi-ward ready)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Property-tax or other Panchayat services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1F2A24"/>
                </a:solidFill>
                <a:latin typeface="Calibri"/>
              </a:rPr>
              <a:t>-  Card-on-file payments (UPI/PAYT only)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577840"/>
            <a:ext cx="11064240" cy="502920"/>
          </a:xfrm>
          <a:prstGeom prst="roundRect">
            <a:avLst>
              <a:gd name="adj" fmla="val 50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Everything demonstrated in this deck runs on the live deployment - smartgarbage.onrender.com</a:t>
            </a:r>
          </a:p>
        </p:txBody>
      </p:sp>
    </p:spTree>
    <p:extLst>
      <p:ext uri="{BB962C8B-B14F-4D97-AF65-F5344CB8AC3E}">
        <p14:creationId xmlns:p14="http://schemas.microsoft.com/office/powerpoint/2010/main" val="4234970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59C14-2B02-B270-5179-DFDBCC786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Review/ Background Study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206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41248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Notice boards / word-of-mouth</a:t>
                      </a:r>
                    </a:p>
                  </a:txBody>
                  <a:tcPr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Generic municipal apps</a:t>
                      </a:r>
                    </a:p>
                  </a:txBody>
                  <a:tcPr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SmartGarbage</a:t>
                      </a:r>
                    </a:p>
                  </a:txBody>
                  <a:tcPr>
                    <a:solidFill>
                      <a:srgbClr val="1B5E3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Schedule visibility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Paper only, no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City-level, no wards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5E3B"/>
                          </a:solidFill>
                          <a:latin typeface="Calibri"/>
                        </a:rPr>
                        <a:t>Street-level, per ward,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Complaint tracking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Email, no SLA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5E3B"/>
                          </a:solidFill>
                          <a:latin typeface="Calibri"/>
                        </a:rPr>
                        <a:t>Signed link + 48h SLA + auto-escalation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Incentives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5E3B"/>
                          </a:solidFill>
                          <a:latin typeface="Calibri"/>
                        </a:rPr>
                        <a:t>Green Points + PAYT pricing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Data for planning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24"/>
                          </a:solidFill>
                          <a:latin typeface="Calibri"/>
                        </a:rPr>
                        <a:t>Siloed dashboards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5E3B"/>
                          </a:solidFill>
                          <a:latin typeface="Calibri"/>
                        </a:rPr>
                        <a:t>Live telemetry + ML ETA + state exports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A6B62"/>
                </a:solidFill>
                <a:latin typeface="Calibri"/>
              </a:rPr>
              <a:t>Positioning: ward-level accountability + incentives + live data - the three gaps in existing systems</a:t>
            </a:r>
          </a:p>
        </p:txBody>
      </p:sp>
    </p:spTree>
    <p:extLst>
      <p:ext uri="{BB962C8B-B14F-4D97-AF65-F5344CB8AC3E}">
        <p14:creationId xmlns:p14="http://schemas.microsoft.com/office/powerpoint/2010/main" val="1150118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0DCCA-37C5-B802-67BD-508095628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Gathered/ Data Used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20240" y="1645920"/>
            <a:ext cx="777240" cy="777240"/>
          </a:xfrm>
          <a:prstGeom prst="ellipse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400" b="0">
                <a:solidFill>
                  <a:srgbClr val="1B5E3B"/>
                </a:solidFill>
                <a:latin typeface="Calibri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0604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B5E3B"/>
                </a:solidFill>
                <a:latin typeface="Calibri"/>
              </a:rPr>
              <a:t>Field survey (primary)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3108960" cy="1737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Ward boundaries, street-level schedules (10 rows), stakeholder interviews, helpline &amp; contacts - from direct field observation.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0" y="1645920"/>
            <a:ext cx="777240" cy="777240"/>
          </a:xfrm>
          <a:prstGeom prst="ellipse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400" b="0">
                <a:solidFill>
                  <a:srgbClr val="1B5E3B"/>
                </a:solidFill>
                <a:latin typeface="Calibri"/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60604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B5E3B"/>
                </a:solidFill>
                <a:latin typeface="Calibri"/>
              </a:rPr>
              <a:t>IoT telemetry (live path)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63240"/>
            <a:ext cx="3108960" cy="1737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Fill %, temperature, methane ppm, battery, tilt from 10 bins - HMAC-signed pings into PostgreSQL via the production ingestion API.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09760" y="1645920"/>
            <a:ext cx="777240" cy="777240"/>
          </a:xfrm>
          <a:prstGeom prst="ellipse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2400" b="0">
                <a:solidFill>
                  <a:srgbClr val="1B5E3B"/>
                </a:solidFill>
                <a:latin typeface="Calibr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0604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B5E3B"/>
                </a:solidFill>
                <a:latin typeface="Calibri"/>
              </a:rPr>
              <a:t>Synthetic history (disclosed)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063240"/>
            <a:ext cx="3108960" cy="1737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600-row, 48-hour ramping grid per bin gives the fill-rate model velocity on a fresh install - documented as a limitation; retrains on live pings.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No Panchayat stores last year's per-bin history - we say so, size models to the data, and retrain automatically as real pings accumulate.</a:t>
            </a:r>
          </a:p>
        </p:txBody>
      </p:sp>
    </p:spTree>
    <p:extLst>
      <p:ext uri="{BB962C8B-B14F-4D97-AF65-F5344CB8AC3E}">
        <p14:creationId xmlns:p14="http://schemas.microsoft.com/office/powerpoint/2010/main" val="399675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0110-51AF-7502-51AC-6C218D294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/ System Design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4480"/>
            <a:ext cx="1106424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57800"/>
            <a:ext cx="110642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A6B62"/>
                </a:solidFill>
                <a:latin typeface="Calibri"/>
              </a:rPr>
              <a:t>End-to-end workflow: every arrow is an implemented endpoint, queue job or DB write</a:t>
            </a:r>
          </a:p>
        </p:txBody>
      </p:sp>
      <p:sp>
        <p:nvSpPr>
          <p:cNvPr id="5" name="Pentagon 4"/>
          <p:cNvSpPr/>
          <p:nvPr/>
        </p:nvSpPr>
        <p:spPr>
          <a:xfrm>
            <a:off x="548640" y="5715000"/>
            <a:ext cx="2125065" cy="548640"/>
          </a:xfrm>
          <a:prstGeom prst="homePlat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Intake (web | WhatsApp | IoT)</a:t>
            </a:r>
          </a:p>
        </p:txBody>
      </p:sp>
      <p:sp>
        <p:nvSpPr>
          <p:cNvPr id="6" name="Chevron 5"/>
          <p:cNvSpPr/>
          <p:nvPr/>
        </p:nvSpPr>
        <p:spPr>
          <a:xfrm>
            <a:off x="2783433" y="5715000"/>
            <a:ext cx="2125065" cy="548640"/>
          </a:xfrm>
          <a:prstGeom prst="chevron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Validate &amp; sign</a:t>
            </a:r>
          </a:p>
        </p:txBody>
      </p:sp>
      <p:sp>
        <p:nvSpPr>
          <p:cNvPr id="7" name="Chevron 6"/>
          <p:cNvSpPr/>
          <p:nvPr/>
        </p:nvSpPr>
        <p:spPr>
          <a:xfrm>
            <a:off x="5018227" y="5715000"/>
            <a:ext cx="2125065" cy="548640"/>
          </a:xfrm>
          <a:prstGeom prst="chevron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Store (PostgreSQL)</a:t>
            </a:r>
          </a:p>
        </p:txBody>
      </p:sp>
      <p:sp>
        <p:nvSpPr>
          <p:cNvPr id="8" name="Chevron 7"/>
          <p:cNvSpPr/>
          <p:nvPr/>
        </p:nvSpPr>
        <p:spPr>
          <a:xfrm>
            <a:off x="7253020" y="5715000"/>
            <a:ext cx="2125065" cy="548640"/>
          </a:xfrm>
          <a:prstGeom prst="chevron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Learn (ML)</a:t>
            </a:r>
          </a:p>
        </p:txBody>
      </p:sp>
      <p:sp>
        <p:nvSpPr>
          <p:cNvPr id="9" name="Chevron 8"/>
          <p:cNvSpPr/>
          <p:nvPr/>
        </p:nvSpPr>
        <p:spPr>
          <a:xfrm>
            <a:off x="9487814" y="5715000"/>
            <a:ext cx="2125065" cy="548640"/>
          </a:xfrm>
          <a:prstGeom prst="chevron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Act (routes | alerts | SLA)</a:t>
            </a:r>
          </a:p>
        </p:txBody>
      </p:sp>
    </p:spTree>
    <p:extLst>
      <p:ext uri="{BB962C8B-B14F-4D97-AF65-F5344CB8AC3E}">
        <p14:creationId xmlns:p14="http://schemas.microsoft.com/office/powerpoint/2010/main" val="319586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8D49-10AC-9C01-4FAD-F7330B26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/ System Design (cont.)</a:t>
            </a:r>
            <a:endParaRPr lang="en-IN" dirty="0"/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417320"/>
            <a:ext cx="7223760" cy="48920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001000" y="1417320"/>
            <a:ext cx="3657600" cy="7132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83879" y="1463040"/>
            <a:ext cx="33832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5E3B"/>
                </a:solidFill>
                <a:latin typeface="Calibri"/>
              </a:rPr>
              <a:t>1 | Ingest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1746504"/>
            <a:ext cx="33832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A6B62"/>
                </a:solidFill>
                <a:latin typeface="Calibri"/>
              </a:rPr>
              <a:t>Forms, WhatsApp bot, HMAC IoT pings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258568"/>
            <a:ext cx="36576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2304288"/>
            <a:ext cx="33832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5E3B"/>
                </a:solidFill>
                <a:latin typeface="Calibri"/>
              </a:rPr>
              <a:t>2 |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587752"/>
            <a:ext cx="33832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A6B62"/>
                </a:solidFill>
                <a:latin typeface="Calibri"/>
              </a:rPr>
              <a:t>8 Flask route modules, CSRF + rate limits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099816"/>
            <a:ext cx="3657600" cy="7132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3145536"/>
            <a:ext cx="33832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5E3B"/>
                </a:solidFill>
                <a:latin typeface="Calibri"/>
              </a:rPr>
              <a:t>3 |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429000"/>
            <a:ext cx="33832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A6B62"/>
                </a:solidFill>
                <a:latin typeface="Calibri"/>
              </a:rPr>
              <a:t>PostgreSQL | 29 tables | Alembic x30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3941064"/>
            <a:ext cx="36576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3986784"/>
            <a:ext cx="33832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5E3B"/>
                </a:solidFill>
                <a:latin typeface="Calibri"/>
              </a:rPr>
              <a:t>4 | 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4270248"/>
            <a:ext cx="33832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A6B62"/>
                </a:solidFill>
                <a:latin typeface="Calibri"/>
              </a:rPr>
              <a:t>ETA | anomaly | miss prediction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782312"/>
            <a:ext cx="3657600" cy="7132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4828032"/>
            <a:ext cx="33832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5E3B"/>
                </a:solidFill>
                <a:latin typeface="Calibri"/>
              </a:rPr>
              <a:t>5 | Real-time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5111496"/>
            <a:ext cx="33832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A6B62"/>
                </a:solidFill>
                <a:latin typeface="Calibri"/>
              </a:rPr>
              <a:t>Socket.IO dashboards | SSE alerts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5623560"/>
            <a:ext cx="36576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5669280"/>
            <a:ext cx="33832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5E3B"/>
                </a:solidFill>
                <a:latin typeface="Calibri"/>
              </a:rPr>
              <a:t>6 | Deliver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5952744"/>
            <a:ext cx="33832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A6B62"/>
                </a:solidFill>
                <a:latin typeface="Calibri"/>
              </a:rPr>
              <a:t>Docker on Render | /health | PWA</a:t>
            </a:r>
          </a:p>
        </p:txBody>
      </p:sp>
    </p:spTree>
    <p:extLst>
      <p:ext uri="{BB962C8B-B14F-4D97-AF65-F5344CB8AC3E}">
        <p14:creationId xmlns:p14="http://schemas.microsoft.com/office/powerpoint/2010/main" val="10395474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637D2-C055-A0AE-76BE-F053AD2C5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/ Modules</a:t>
            </a:r>
          </a:p>
        </p:txBody>
      </p:sp>
      <p:pic>
        <p:nvPicPr>
          <p:cNvPr id="3" name="Picture 2" descr="database_er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6126480" cy="4069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5623560"/>
            <a:ext cx="61264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A6B62"/>
                </a:solidFill>
                <a:latin typeface="Calibri"/>
              </a:rPr>
              <a:t>29-table relational schema (Alembic-managed, 30 migrations)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95160" y="1463040"/>
            <a:ext cx="46634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178040" y="1645920"/>
            <a:ext cx="566928" cy="566928"/>
          </a:xfrm>
          <a:prstGeom prst="ellipse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700" b="0">
                <a:solidFill>
                  <a:srgbClr val="1B5E3B"/>
                </a:solidFill>
                <a:latin typeface="Calibri"/>
              </a:rPr>
              <a:t>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527048"/>
            <a:ext cx="365760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B5E3B"/>
                </a:solidFill>
                <a:latin typeface="Calibri"/>
              </a:rPr>
              <a:t>Public portal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1901952"/>
            <a:ext cx="36576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B62"/>
                </a:solidFill>
                <a:latin typeface="Calibri"/>
              </a:rPr>
              <a:t>Schedules, transparency, FAQ, search - no login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2542032"/>
            <a:ext cx="46634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78040" y="2724912"/>
            <a:ext cx="566928" cy="566928"/>
          </a:xfrm>
          <a:prstGeom prst="ellipse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700" b="0">
                <a:solidFill>
                  <a:srgbClr val="1B5E3B"/>
                </a:solidFill>
                <a:latin typeface="Calibr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606040"/>
            <a:ext cx="365760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B5E3B"/>
                </a:solidFill>
                <a:latin typeface="Calibri"/>
              </a:rPr>
              <a:t>Citizen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980944"/>
            <a:ext cx="36576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B62"/>
                </a:solidFill>
                <a:latin typeface="Calibri"/>
              </a:rPr>
              <a:t>Complaints + tracking, declarations, PAYT, Green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3621024"/>
            <a:ext cx="46634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3803904"/>
            <a:ext cx="566928" cy="566928"/>
          </a:xfrm>
          <a:prstGeom prst="ellipse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700" b="0">
                <a:solidFill>
                  <a:srgbClr val="1B5E3B"/>
                </a:solidFill>
                <a:latin typeface="Calibri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685032"/>
            <a:ext cx="365760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B5E3B"/>
                </a:solidFill>
                <a:latin typeface="Calibri"/>
              </a:rPr>
              <a:t>Worker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059935"/>
            <a:ext cx="36576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B62"/>
                </a:solidFill>
                <a:latin typeface="Calibri"/>
              </a:rPr>
              <a:t>Route, geofence enforcement, offload proof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4700016"/>
            <a:ext cx="46634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4882896"/>
            <a:ext cx="566928" cy="566928"/>
          </a:xfrm>
          <a:prstGeom prst="ellipse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700" b="0">
                <a:solidFill>
                  <a:srgbClr val="1B5E3B"/>
                </a:solidFill>
                <a:latin typeface="Calibri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764024"/>
            <a:ext cx="365760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B5E3B"/>
                </a:solidFill>
                <a:latin typeface="Calibri"/>
              </a:rPr>
              <a:t>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138928"/>
            <a:ext cx="36576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B62"/>
                </a:solidFill>
                <a:latin typeface="Calibri"/>
              </a:rPr>
              <a:t>Control room: incidents, SLA, OTA firmware, exports</a:t>
            </a:r>
          </a:p>
        </p:txBody>
      </p:sp>
    </p:spTree>
    <p:extLst>
      <p:ext uri="{BB962C8B-B14F-4D97-AF65-F5344CB8AC3E}">
        <p14:creationId xmlns:p14="http://schemas.microsoft.com/office/powerpoint/2010/main" val="3098161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5AB7D-6F03-4630-46A2-BB97B39DB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</a:t>
            </a:r>
          </a:p>
        </p:txBody>
      </p:sp>
      <p:pic>
        <p:nvPicPr>
          <p:cNvPr id="3" name="Picture 2" descr="deplo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4440" y="1417320"/>
            <a:ext cx="9692640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5431536"/>
            <a:ext cx="96926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A6B62"/>
                </a:solidFill>
                <a:latin typeface="Calibri"/>
              </a:rPr>
              <a:t>8 route modules | 138 routes | 29 tables | 30 Alembic migrations | gunicorn + gevent x2</a:t>
            </a:r>
          </a:p>
        </p:txBody>
      </p:sp>
      <p:sp>
        <p:nvSpPr>
          <p:cNvPr id="5" name="Pentagon 4"/>
          <p:cNvSpPr/>
          <p:nvPr/>
        </p:nvSpPr>
        <p:spPr>
          <a:xfrm>
            <a:off x="548640" y="5669280"/>
            <a:ext cx="2125065" cy="566928"/>
          </a:xfrm>
          <a:prstGeom prst="homePlat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git push</a:t>
            </a:r>
          </a:p>
        </p:txBody>
      </p:sp>
      <p:sp>
        <p:nvSpPr>
          <p:cNvPr id="6" name="Chevron 5"/>
          <p:cNvSpPr/>
          <p:nvPr/>
        </p:nvSpPr>
        <p:spPr>
          <a:xfrm>
            <a:off x="2783433" y="5669280"/>
            <a:ext cx="2125065" cy="566928"/>
          </a:xfrm>
          <a:prstGeom prst="chevron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Docker build</a:t>
            </a:r>
          </a:p>
        </p:txBody>
      </p:sp>
      <p:sp>
        <p:nvSpPr>
          <p:cNvPr id="7" name="Chevron 6"/>
          <p:cNvSpPr/>
          <p:nvPr/>
        </p:nvSpPr>
        <p:spPr>
          <a:xfrm>
            <a:off x="5018227" y="5669280"/>
            <a:ext cx="2125065" cy="566928"/>
          </a:xfrm>
          <a:prstGeom prst="chevron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flask db upgrade</a:t>
            </a:r>
          </a:p>
        </p:txBody>
      </p:sp>
      <p:sp>
        <p:nvSpPr>
          <p:cNvPr id="8" name="Chevron 7"/>
          <p:cNvSpPr/>
          <p:nvPr/>
        </p:nvSpPr>
        <p:spPr>
          <a:xfrm>
            <a:off x="7253020" y="5669280"/>
            <a:ext cx="2125065" cy="566928"/>
          </a:xfrm>
          <a:prstGeom prst="chevron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gunicorn + gevent x2</a:t>
            </a:r>
          </a:p>
        </p:txBody>
      </p:sp>
      <p:sp>
        <p:nvSpPr>
          <p:cNvPr id="9" name="Chevron 8"/>
          <p:cNvSpPr/>
          <p:nvPr/>
        </p:nvSpPr>
        <p:spPr>
          <a:xfrm>
            <a:off x="9487814" y="5669280"/>
            <a:ext cx="2125065" cy="566928"/>
          </a:xfrm>
          <a:prstGeom prst="chevron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/health OK</a:t>
            </a:r>
          </a:p>
        </p:txBody>
      </p:sp>
    </p:spTree>
    <p:extLst>
      <p:ext uri="{BB962C8B-B14F-4D97-AF65-F5344CB8AC3E}">
        <p14:creationId xmlns:p14="http://schemas.microsoft.com/office/powerpoint/2010/main" val="8002398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5AB7D-6F03-4630-46A2-BB97B39DB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- Live Portal (Every Feature)</a:t>
            </a:r>
          </a:p>
        </p:txBody>
      </p:sp>
      <p:pic>
        <p:nvPicPr>
          <p:cNvPr id="3" name="Picture 2" descr="sg_home_1280_3.85x2.08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8640" y="1371600"/>
            <a:ext cx="3520440" cy="190195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3273552"/>
            <a:ext cx="3520440" cy="384048"/>
          </a:xfrm>
          <a:prstGeom prst="roundRect">
            <a:avLst>
              <a:gd name="adj" fmla="val 50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Home</a:t>
            </a:r>
          </a:p>
        </p:txBody>
      </p:sp>
      <p:pic>
        <p:nvPicPr>
          <p:cNvPr id="5" name="Picture 4" descr="sg_schedule_1280_3.85x2.08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43400" y="1371600"/>
            <a:ext cx="3520440" cy="19019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343400" y="3273552"/>
            <a:ext cx="3520440" cy="384048"/>
          </a:xfrm>
          <a:prstGeom prst="roundRect">
            <a:avLst>
              <a:gd name="adj" fmla="val 50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Schedule lookup</a:t>
            </a:r>
          </a:p>
        </p:txBody>
      </p:sp>
      <p:pic>
        <p:nvPicPr>
          <p:cNvPr id="7" name="Picture 6" descr="sg_report_1280_3.85x2.08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138160" y="1371600"/>
            <a:ext cx="3520440" cy="19019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38160" y="3273552"/>
            <a:ext cx="3520440" cy="384048"/>
          </a:xfrm>
          <a:prstGeom prst="roundRect">
            <a:avLst>
              <a:gd name="adj" fmla="val 50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Report &amp; WhatsApp</a:t>
            </a:r>
          </a:p>
        </p:txBody>
      </p:sp>
      <p:pic>
        <p:nvPicPr>
          <p:cNvPr id="9" name="Picture 8" descr="sg_transparency_1280_3.85x2.08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8640" y="3794760"/>
            <a:ext cx="3520440" cy="190195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5696712"/>
            <a:ext cx="3520440" cy="384048"/>
          </a:xfrm>
          <a:prstGeom prst="roundRect">
            <a:avLst>
              <a:gd name="adj" fmla="val 50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Transparency</a:t>
            </a:r>
          </a:p>
        </p:txBody>
      </p:sp>
      <p:pic>
        <p:nvPicPr>
          <p:cNvPr id="11" name="Picture 10" descr="sg_impact_1280_3.85x2.08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43400" y="3794760"/>
            <a:ext cx="3520440" cy="190195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343400" y="5696712"/>
            <a:ext cx="3520440" cy="384048"/>
          </a:xfrm>
          <a:prstGeom prst="roundRect">
            <a:avLst>
              <a:gd name="adj" fmla="val 50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pic>
        <p:nvPicPr>
          <p:cNvPr id="13" name="Picture 12" descr="sg_track_1280_3.85x2.08.jp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38160" y="3794760"/>
            <a:ext cx="3520440" cy="19019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138160" y="5696712"/>
            <a:ext cx="3520440" cy="384048"/>
          </a:xfrm>
          <a:prstGeom prst="roundRect">
            <a:avLst>
              <a:gd name="adj" fmla="val 50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Complaint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A6B62"/>
                </a:solidFill>
                <a:latin typeface="Calibri"/>
              </a:rPr>
              <a:t>Captured from the live deployment - desktop PWA (1280px)</a:t>
            </a:r>
          </a:p>
        </p:txBody>
      </p:sp>
    </p:spTree>
    <p:extLst>
      <p:ext uri="{BB962C8B-B14F-4D97-AF65-F5344CB8AC3E}">
        <p14:creationId xmlns:p14="http://schemas.microsoft.com/office/powerpoint/2010/main" val="8002398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2C339-7109-22A2-C449-4EAB8CD8D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Assessment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3000" b="1">
                <a:solidFill>
                  <a:srgbClr val="1B5E3B"/>
                </a:solidFill>
                <a:latin typeface="Calibri"/>
              </a:rPr>
              <a:t>~12k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residents served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64992" y="132588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3000" b="1">
                <a:solidFill>
                  <a:srgbClr val="1B5E3B"/>
                </a:solidFill>
                <a:latin typeface="Calibri"/>
              </a:rPr>
              <a:t>5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wards live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32588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3000" b="1">
                <a:solidFill>
                  <a:srgbClr val="1B5E3B"/>
                </a:solidFill>
                <a:latin typeface="Calibri"/>
              </a:rPr>
              <a:t>29 / 30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tables / migrations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97696" y="132588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3000" b="1">
                <a:solidFill>
                  <a:srgbClr val="1B5E3B"/>
                </a:solidFill>
                <a:latin typeface="Calibri"/>
              </a:rPr>
              <a:t>406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tests green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9808" y="342900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900" b="0">
                <a:solidFill>
                  <a:srgbClr val="1B5E3B"/>
                </a:solidFill>
                <a:latin typeface="Calibri"/>
              </a:rPr>
              <a:t>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54680"/>
            <a:ext cx="429768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5E3B"/>
                </a:solidFill>
                <a:latin typeface="Calibri"/>
              </a:rPr>
              <a:t>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566160"/>
            <a:ext cx="429768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Audit trail on every privileged action; CSV/JSON state-compliance exports.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79" y="306324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56247" y="342900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900" b="0">
                <a:solidFill>
                  <a:srgbClr val="1B5E3B"/>
                </a:solidFill>
                <a:latin typeface="Calibri"/>
              </a:rPr>
              <a:t>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19" y="3154680"/>
            <a:ext cx="429768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5E3B"/>
                </a:solidFill>
                <a:latin typeface="Calibri"/>
              </a:rPr>
              <a:t>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19" y="3566160"/>
            <a:ext cx="429768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PAYT + 4-stream declarations steer waste to compost/recycle, not landfill.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6344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9808" y="502920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900" b="0">
                <a:solidFill>
                  <a:srgbClr val="1B5E3B"/>
                </a:solidFill>
                <a:latin typeface="Calibri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54879"/>
            <a:ext cx="429768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5E3B"/>
                </a:solidFill>
                <a:latin typeface="Calibri"/>
              </a:rPr>
              <a:t>Social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166359"/>
            <a:ext cx="429768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WhatsApp-first access - no app store, works on basic Android; offline PWA shell.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79" y="466344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56247" y="502920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900" b="0">
                <a:solidFill>
                  <a:srgbClr val="1B5E3B"/>
                </a:solidFill>
                <a:latin typeface="Calibri"/>
              </a:rPr>
              <a:t>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19" y="4754879"/>
            <a:ext cx="429768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5E3B"/>
                </a:solidFill>
                <a:latin typeface="Calibri"/>
              </a:rPr>
              <a:t>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19" y="5166359"/>
            <a:ext cx="429768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Queue with retries + dead-letter alerts; /health; Prometheus-style metrics.</a:t>
            </a:r>
          </a:p>
        </p:txBody>
      </p:sp>
    </p:spTree>
    <p:extLst>
      <p:ext uri="{BB962C8B-B14F-4D97-AF65-F5344CB8AC3E}">
        <p14:creationId xmlns:p14="http://schemas.microsoft.com/office/powerpoint/2010/main" val="1549317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54A12-A0D7-06D5-FBC6-343B3FF8A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484632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2A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438912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2A541"/>
                </a:solidFill>
                <a:latin typeface="Calibri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438912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2A24"/>
                </a:solidFill>
                <a:latin typeface="Calibri"/>
              </a:rPr>
              <a:t>No historical bin telemetry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532120" y="1874520"/>
            <a:ext cx="868680" cy="411480"/>
          </a:xfrm>
          <a:prstGeom prst="rightArrow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463040"/>
            <a:ext cx="50749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572768"/>
            <a:ext cx="461772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B5E3B"/>
                </a:solidFill>
                <a:latin typeface="Calibri"/>
              </a:rPr>
              <a:t>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847088"/>
            <a:ext cx="461772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A24"/>
                </a:solidFill>
                <a:latin typeface="Calibri"/>
              </a:rPr>
              <a:t>600-row synthetic grid + auto-retrain on live pings - limitation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44368"/>
            <a:ext cx="484632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2A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54096"/>
            <a:ext cx="438912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2A541"/>
                </a:solidFill>
                <a:latin typeface="Calibri"/>
              </a:rPr>
              <a:t>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28416"/>
            <a:ext cx="438912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2A24"/>
                </a:solidFill>
                <a:latin typeface="Calibri"/>
              </a:rPr>
              <a:t>Free tier: no worker service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532120" y="3355848"/>
            <a:ext cx="868680" cy="411480"/>
          </a:xfrm>
          <a:prstGeom prst="rightArrow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2944368"/>
            <a:ext cx="50749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3054096"/>
            <a:ext cx="461772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B5E3B"/>
                </a:solidFill>
                <a:latin typeface="Calibri"/>
              </a:rPr>
              <a:t>OUR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328416"/>
            <a:ext cx="461772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A24"/>
                </a:solidFill>
                <a:latin typeface="Calibri"/>
              </a:rPr>
              <a:t>In-process RQ worker, retry policies, dead-letter alerts, /health probes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25696"/>
            <a:ext cx="484632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2A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35424"/>
            <a:ext cx="438912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2A541"/>
                </a:solidFill>
                <a:latin typeface="Calibri"/>
              </a:rPr>
              <a:t>CHALLENGE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09744"/>
            <a:ext cx="438912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2A24"/>
                </a:solidFill>
                <a:latin typeface="Calibri"/>
              </a:rPr>
              <a:t>1 vCPU page-load stalls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532120" y="4837176"/>
            <a:ext cx="868680" cy="411480"/>
          </a:xfrm>
          <a:prstGeom prst="rightArrow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4425696"/>
            <a:ext cx="50749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4535424"/>
            <a:ext cx="461772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B5E3B"/>
                </a:solidFill>
                <a:latin typeface="Calibri"/>
              </a:rPr>
              <a:t>OUR SOLUTION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809744"/>
            <a:ext cx="461772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A24"/>
                </a:solidFill>
                <a:latin typeface="Calibri"/>
              </a:rPr>
              <a:t>gevent x2 workers, compression, Redis cache, offline PWA shell</a:t>
            </a:r>
          </a:p>
        </p:txBody>
      </p:sp>
    </p:spTree>
    <p:extLst>
      <p:ext uri="{BB962C8B-B14F-4D97-AF65-F5344CB8AC3E}">
        <p14:creationId xmlns:p14="http://schemas.microsoft.com/office/powerpoint/2010/main" val="42363084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16F3-F74C-A352-259B-B4A788B57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6309360" cy="2743200"/>
          </a:xfrm>
          <a:prstGeom prst="roundRect">
            <a:avLst>
              <a:gd name="adj" fmla="val 6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SmartGarbage replaces a notice board and a phone tree with one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accountable, data-producing channel - schedules people can trust,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complaints that cannot vanish, and operations data the Panchayat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can finally act 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57200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1B5E3B"/>
                </a:solidFill>
                <a:latin typeface="Calibri"/>
              </a:rPr>
              <a:t>One accountable channel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61488" y="457200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1B5E3B"/>
                </a:solidFill>
                <a:latin typeface="Calibri"/>
              </a:rPr>
              <a:t>Data-driven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74336" y="457200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1B5E3B"/>
                </a:solidFill>
                <a:latin typeface="Calibri"/>
              </a:rPr>
              <a:t>Ready for the next ward</a:t>
            </a:r>
          </a:p>
        </p:txBody>
      </p:sp>
      <p:pic>
        <p:nvPicPr>
          <p:cNvPr id="7" name="Picture 6" descr="sg_transparency_1280_4.80x3.4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54480"/>
            <a:ext cx="438912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4754880"/>
            <a:ext cx="43891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A6B62"/>
                </a:solidFill>
                <a:latin typeface="Calibri"/>
              </a:rPr>
              <a:t>Transparency dashboard - the Panchayat's public ledger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532120"/>
            <a:ext cx="11064240" cy="5029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F2A24"/>
                </a:solidFill>
                <a:latin typeface="Calibri"/>
              </a:rPr>
              <a:t>Live: smartgarbage.onrender.com  |  fully open to inspection today</a:t>
            </a:r>
          </a:p>
        </p:txBody>
      </p:sp>
    </p:spTree>
    <p:extLst>
      <p:ext uri="{BB962C8B-B14F-4D97-AF65-F5344CB8AC3E}">
        <p14:creationId xmlns:p14="http://schemas.microsoft.com/office/powerpoint/2010/main" val="183795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C0666-1392-9333-3018-8197057B1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 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1737360"/>
            <a:ext cx="2683764" cy="914400"/>
          </a:xfrm>
          <a:prstGeom prst="homePlat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ESP32 on real bins</a:t>
            </a:r>
          </a:p>
        </p:txBody>
      </p:sp>
      <p:sp>
        <p:nvSpPr>
          <p:cNvPr id="4" name="Chevron 3"/>
          <p:cNvSpPr/>
          <p:nvPr/>
        </p:nvSpPr>
        <p:spPr>
          <a:xfrm>
            <a:off x="3342132" y="1737360"/>
            <a:ext cx="2683764" cy="914400"/>
          </a:xfrm>
          <a:prstGeom prst="chevron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Retrain on live pings</a:t>
            </a:r>
          </a:p>
        </p:txBody>
      </p:sp>
      <p:sp>
        <p:nvSpPr>
          <p:cNvPr id="5" name="Chevron 4"/>
          <p:cNvSpPr/>
          <p:nvPr/>
        </p:nvSpPr>
        <p:spPr>
          <a:xfrm>
            <a:off x="6135624" y="1737360"/>
            <a:ext cx="2683764" cy="914400"/>
          </a:xfrm>
          <a:prstGeom prst="chevron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Nightly route optimisation</a:t>
            </a:r>
          </a:p>
        </p:txBody>
      </p:sp>
      <p:sp>
        <p:nvSpPr>
          <p:cNvPr id="6" name="Chevron 5"/>
          <p:cNvSpPr/>
          <p:nvPr/>
        </p:nvSpPr>
        <p:spPr>
          <a:xfrm>
            <a:off x="8929116" y="1737360"/>
            <a:ext cx="2683764" cy="914400"/>
          </a:xfrm>
          <a:prstGeom prst="chevron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District rollout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26060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200400"/>
            <a:ext cx="22860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2A541"/>
                </a:solidFill>
                <a:latin typeface="Calibri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520440"/>
            <a:ext cx="22860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OTA firmware channel already ships in the admin console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3017520"/>
            <a:ext cx="26060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3200400"/>
            <a:ext cx="22860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2A541"/>
                </a:solidFill>
                <a:latin typeface="Calibri"/>
              </a:rP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3520440"/>
            <a:ext cx="22860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model_retraining_job swaps the synthetic grid 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3017520"/>
            <a:ext cx="26060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3200400"/>
            <a:ext cx="22860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2A541"/>
                </a:solidFill>
                <a:latin typeface="Calibri"/>
              </a:rPr>
              <a:t>Step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3520440"/>
            <a:ext cx="22860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ETA + miss predictions blended into worker routes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696" y="3017520"/>
            <a:ext cx="26060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62288" y="3200400"/>
            <a:ext cx="22860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2A541"/>
                </a:solidFill>
                <a:latin typeface="Calibri"/>
              </a:rPr>
              <a:t>Step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3520440"/>
            <a:ext cx="22860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Multi-panchayat schema is already ward-scoped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B5E3B"/>
                </a:solidFill>
                <a:latin typeface="Calibri"/>
              </a:rPr>
              <a:t>Each step reuses what already ships - no rewrite, only new data and configuration.</a:t>
            </a:r>
          </a:p>
        </p:txBody>
      </p:sp>
    </p:spTree>
    <p:extLst>
      <p:ext uri="{BB962C8B-B14F-4D97-AF65-F5344CB8AC3E}">
        <p14:creationId xmlns:p14="http://schemas.microsoft.com/office/powerpoint/2010/main" val="1889306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4AD2F-7B2B-C452-DECD-919AEC63C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r>
              <a:rPr lang="en-IN" dirty="0"/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94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F2A24"/>
                </a:solidFill>
                <a:latin typeface="Calibri"/>
              </a:rPr>
              <a:t>-  Swachh Bharat Mission (Grameen) Phase-II guidelines, Ministry of Jal Shakti.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5394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F2A24"/>
                </a:solidFill>
                <a:latin typeface="Calibri"/>
              </a:rPr>
              <a:t>-  Web &amp; Backend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5394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F2A24"/>
                </a:solidFill>
                <a:latin typeface="Calibri"/>
              </a:rPr>
              <a:t>-  Flask 3.x documentation (Pallets Projects) - application factory, blueprints.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5394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F2A24"/>
                </a:solidFill>
                <a:latin typeface="Calibri"/>
              </a:rPr>
              <a:t>-  SQLAlchemy 2.0 documentation; Alembic migration framework.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5394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F2A24"/>
                </a:solidFill>
                <a:latin typeface="Calibri"/>
              </a:rPr>
              <a:t>-  Machine Learning &amp; Predictive 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5394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F2A24"/>
                </a:solidFill>
                <a:latin typeface="Calibri"/>
              </a:rPr>
              <a:t>-  Liu, Ting &amp; Zhou (2008), Isolation Forest, AAAI - the anomaly model actually deployed.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463040"/>
            <a:ext cx="5394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F2A24"/>
                </a:solidFill>
                <a:latin typeface="Calibri"/>
              </a:rPr>
              <a:t>-  scikit-learn - HistGradientBoostingRegressor (overflow ETA) &amp; IsolationForest (anomaly detection), as used in app/ml_model.py.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331720"/>
            <a:ext cx="5394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F2A24"/>
                </a:solidFill>
                <a:latin typeface="Calibri"/>
              </a:rPr>
              <a:t>-  Anagnostopoulos et al. (2015), Waste Management 45, 34-41 - IoT bin monitoring.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200400"/>
            <a:ext cx="5394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F2A24"/>
                </a:solidFill>
                <a:latin typeface="Calibri"/>
              </a:rPr>
              <a:t>-  Chen et al. (2020) - ensemble learning for short-term waste prediction.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069080"/>
            <a:ext cx="5394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F2A24"/>
                </a:solidFill>
                <a:latin typeface="Calibri"/>
              </a:rPr>
              <a:t>-  Accessibility &amp; 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4937760"/>
            <a:ext cx="5394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F2A24"/>
                </a:solidFill>
                <a:latin typeface="Calibri"/>
              </a:rPr>
              <a:t>-  WCAG 2.1 Level AA (W3C); OWASP Top 10 and secure-headers project.</a:t>
            </a:r>
          </a:p>
        </p:txBody>
      </p:sp>
    </p:spTree>
    <p:extLst>
      <p:ext uri="{BB962C8B-B14F-4D97-AF65-F5344CB8AC3E}">
        <p14:creationId xmlns:p14="http://schemas.microsoft.com/office/powerpoint/2010/main" val="3659376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011680" y="1737360"/>
            <a:ext cx="8138160" cy="3108960"/>
          </a:xfrm>
          <a:prstGeom prst="roundRect">
            <a:avLst>
              <a:gd name="adj" fmla="val 6000"/>
            </a:avLst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Open Floor for Discussion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794760" y="521208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24"/>
                </a:solidFill>
                <a:latin typeface="Calibri"/>
              </a:rPr>
              <a:t>Live demo: smartgarbage.onrender.com</a:t>
            </a:r>
          </a:p>
        </p:txBody>
      </p:sp>
    </p:spTree>
    <p:extLst>
      <p:ext uri="{BB962C8B-B14F-4D97-AF65-F5344CB8AC3E}">
        <p14:creationId xmlns:p14="http://schemas.microsoft.com/office/powerpoint/2010/main" val="2813571272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54654A12-A0D7-06D5-FBC6-343B3FF8A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Quality Assurance - The Photo Gate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6949440" cy="105156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581912"/>
            <a:ext cx="548640" cy="548640"/>
          </a:xfrm>
          <a:prstGeom prst="ellips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417320"/>
            <a:ext cx="585216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B5E3B"/>
                </a:solidFill>
                <a:latin typeface="Calibri"/>
              </a:rPr>
              <a:t>Classify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64792"/>
            <a:ext cx="5852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ONNX photo gate: 224px ImageNet-normalised input; a photo ships only when p_reject &lt; 0.70.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69494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770632"/>
            <a:ext cx="548640" cy="548640"/>
          </a:xfrm>
          <a:prstGeom prst="ellips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606040"/>
            <a:ext cx="585216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B5E3B"/>
                </a:solidFill>
                <a:latin typeface="Calibri"/>
              </a:rPr>
              <a:t>Verify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53512"/>
            <a:ext cx="5852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Dual canary probes (reject + accept) score the deployed model on schedule; breaches raise day-deduplicated alerts.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6949440" cy="105156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959352"/>
            <a:ext cx="548640" cy="548640"/>
          </a:xfrm>
          <a:prstGeom prst="ellips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794759"/>
            <a:ext cx="585216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B5E3B"/>
                </a:solidFill>
                <a:latin typeface="Calibri"/>
              </a:rPr>
              <a:t>Watch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42231"/>
            <a:ext cx="5852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Weekly p_reject drift vs a signed baseline; mean shift &gt; 0.01, floor drop &gt; 0.005 or any score &lt; 0.90 files an issue.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69494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5148072"/>
            <a:ext cx="548640" cy="548640"/>
          </a:xfrm>
          <a:prstGeom prst="ellipse">
            <a:avLst/>
          </a:prstGeom>
          <a:solidFill>
            <a:srgbClr val="1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983480"/>
            <a:ext cx="585216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B5E3B"/>
                </a:solidFill>
                <a:latin typeface="Calibri"/>
              </a:rPr>
              <a:t>Improve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330952"/>
            <a:ext cx="5852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5A6B62"/>
                </a:solidFill>
                <a:latin typeface="Calibri"/>
              </a:rPr>
              <a:t>Relabelled false positives ingested exactly once, gated at &gt;= 0.90 validation accuracy, baseline auto-refreshed.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1417320"/>
            <a:ext cx="3749039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600" b="1">
                <a:solidFill>
                  <a:srgbClr val="1B5E3B"/>
                </a:solidFill>
                <a:latin typeface="Calibri"/>
              </a:rPr>
              <a:t>96.6%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validation top-1 accuracy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898648"/>
            <a:ext cx="3749039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600" b="1">
                <a:solidFill>
                  <a:srgbClr val="1B5E3B"/>
                </a:solidFill>
                <a:latin typeface="Calibri"/>
              </a:rPr>
              <a:t>0.9998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canary p_reject (live)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4379976"/>
            <a:ext cx="3749039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600" b="1">
                <a:solidFill>
                  <a:srgbClr val="1B5E3B"/>
                </a:solidFill>
                <a:latin typeface="Calibri"/>
              </a:rPr>
              <a:t>406</a:t>
            </a:r>
          </a:p>
          <a:p>
            <a:pPr algn="ctr"/>
            <a:r>
              <a:rPr sz="1100">
                <a:solidFill>
                  <a:srgbClr val="5A6B62"/>
                </a:solidFill>
                <a:latin typeface="Calibri"/>
              </a:rPr>
              <a:t>automated tests green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1F2A24"/>
                </a:solidFill>
                <a:latin typeface="Calibri"/>
              </a:rPr>
              <a:t>A second ML model keeps non-garbage photos out of the worker queue - and monitors its own health.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256</TotalTime>
  <Words>2061</Words>
  <Application>Microsoft Office PowerPoint</Application>
  <PresentationFormat>Widescreen</PresentationFormat>
  <Paragraphs>209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Office Theme</vt:lpstr>
      <vt:lpstr>               Community Project  Branch: CSE-Artificial Intelligence &amp; Machine Learning Department: Data Engineering  Semester: V    Section: A          Regulation: R24             Course Code: R24MSCSP001</vt:lpstr>
      <vt:lpstr>Abstract</vt:lpstr>
      <vt:lpstr>Introduction</vt:lpstr>
      <vt:lpstr>Problem Statement </vt:lpstr>
      <vt:lpstr>Project Objectives </vt:lpstr>
      <vt:lpstr>Project Scope </vt:lpstr>
      <vt:lpstr>Literature Review/ Background Study</vt:lpstr>
      <vt:lpstr>Data Gathered/ Data Used</vt:lpstr>
      <vt:lpstr>Methodology / System Design</vt:lpstr>
      <vt:lpstr>Methodology/ System Design(cont.)</vt:lpstr>
      <vt:lpstr>Implementation / Modules</vt:lpstr>
      <vt:lpstr>Results (Full) / Screenshots </vt:lpstr>
      <vt:lpstr>Impact Assessment </vt:lpstr>
      <vt:lpstr>Challenges Faced </vt:lpstr>
      <vt:lpstr>Conclusion </vt:lpstr>
      <vt:lpstr>Future Work </vt:lpstr>
      <vt:lpstr>References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Community Project  Branch: CSE-Artificial Intelligence &amp; Machine Learning Department: Data Engineering  Semester: V    Section: A          Regulation: R24             Course Code: R24MSCSP001</dc:title>
  <dc:creator>Sushma Vatekar</dc:creator>
  <cp:lastModifiedBy>Chandini Mopada</cp:lastModifiedBy>
  <cp:revision>7</cp:revision>
  <dcterms:created xsi:type="dcterms:W3CDTF">2025-09-22T15:29:51Z</dcterms:created>
  <dcterms:modified xsi:type="dcterms:W3CDTF">2026-07-03T18:10:12Z</dcterms:modified>
</cp:coreProperties>
</file>