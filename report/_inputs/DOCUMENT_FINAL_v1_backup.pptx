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74" r:id="rId26"/>
    <p:sldId id="267" r:id="rId13"/>
    <p:sldId id="268" r:id="rId14"/>
    <p:sldId id="269" r:id="rId15"/>
    <p:sldId id="271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22E713D-B38C-44B3-AA1B-BF7E4901F54A}">
          <p14:sldIdLst>
            <p14:sldId id="256"/>
            <p14:sldId id="257"/>
            <p14:sldId id="258"/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1"/>
            <p14:sldId id="270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C77DDF-0A27-67B6-5BDF-F285B4C717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F2C14-519F-1665-5873-A72F255643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B00D6-E1FF-4B73-A053-E585B1FBE90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4DCC8-0A82-FBB1-C5C8-0A3B68A7E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E76C3-C0CF-299E-70A1-6269DB6591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F4E45-0858-4043-A964-1C66277AD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035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34C36-70B1-45F6-9FDE-F1D24E79F56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F6A76-F437-4B4B-8482-7210935BA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6623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F6A76-F437-4B4B-8482-7210935BA7C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9042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CCCB-E175-57DF-24EA-FD7B125D5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CE3B5-1C30-5CEF-2519-0F3E17055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DF157-475F-2413-9A18-8C99B0F3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5323-E29B-4B70-A94E-1594BD5CBD7E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620D2-DC7F-B2F2-0EA2-DA548AED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35AC5-403F-A47E-E941-5EEB21D46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4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CD6A-AF0F-7AD6-7A7C-AE6A86E8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BD31-11F1-A76F-4F35-D68096911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168E4-CF8E-21D0-0E03-53396B119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94E78-88E1-46A4-AF1B-828B5E375FA2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F465C-6C94-5A19-8095-13922281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AA8D-3739-E96E-0A3F-1FFC9B3F8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01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5A6B-F1C1-9EB4-A060-5B25A0F3E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61C07-B202-8596-07A9-22822C9DF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4F265-5CE9-9191-6286-2C9AE5F0B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9717-40FC-4C73-B8FA-A58DAB8A6201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1E1B0-75C0-03D7-9824-CA075284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9738F-0524-AB68-D6DB-3A4E3B30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77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F7E3-61D6-8491-1328-714F5970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D3BCC-F5B5-90E7-1B9B-4B86B2286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0F7E7-5B74-070A-47CE-41CB80123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22ED-FA86-4920-5DDD-EF5BAB07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21CF7-758A-44DA-BCBF-28E94B183FAA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C7351-93DD-02B8-418D-4758BB52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1A715-8247-0449-9A75-090C2AC04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77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0879-59A2-9993-5923-31956486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4AD61-0E56-D989-0F6E-E2475CED0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878A4-D7B6-8C42-F70F-B46C102B4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0B250-122E-ED60-C1CE-B01FF6F64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170AD3-919D-BA8B-B107-88B0AE5EC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76A1F-60B9-95CE-E92F-BE7C1FBC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9FDD-8BD6-49CA-B47B-D82B5753DDDF}" type="datetime1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05E6BD-7F75-F160-B5AE-BC0CB39A0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4F82A-2F5F-AFF5-B7E5-195A9F72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7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01F4-BED2-1AAD-97E2-15FD1168B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9C3BD-B4F1-048A-3697-B165EAC08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71C4-7117-442F-820E-CC01BC240CFF}" type="datetime1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3806D-6534-3CB8-9569-E2F8462C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5F470-2CEF-BAFE-7D89-13162D558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153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61FC1-61B2-0BEC-36EF-3DE62DB9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54E5A-9C4D-4470-846F-ADA8C588B6A9}" type="datetime1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6DB32-5E56-9AF3-6840-1B34E91C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33A9D-2826-6D71-05BE-6B8D4570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0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E002-737C-263E-A4E0-BF90604D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599A4-C8E8-FC9F-25B9-D03380211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CDDF6-A347-9627-45DD-1B0CAA19C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C2D6B-F737-2EBE-5E8C-0BB78FDF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9F083-6D5B-4B0A-A053-F75A84FB0730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85B18-D373-F253-5581-CF1C04E3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5C7CE-A6DD-CD7E-7AF4-719C1B64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00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CCD2-0CAD-E143-4AED-BF6232E4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E0C940-6F35-3FA0-09D1-81974FB73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33F76-869F-7C98-8621-02EAAF7F9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F9FDD-7956-7A3E-DF1B-E917B4C3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14738-DEA0-4125-998D-ECD817967A89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8230D-B290-ED5F-5C68-CE723BCC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9775D-FAF7-3543-22DF-BD7C5A37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70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5FB7-6D0C-1E16-0A66-E68B9D2C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EE2B5-8C5E-58D4-A3F9-3A3031873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91197-E419-0573-70A8-DE688D37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1ED1-E35F-4D19-85BD-C5B2E1E72F64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CDE99-3310-5C8E-4F2A-AC0ACD95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98FA3-7C23-3214-D38F-392AD8DF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8C7CF-4623-DEC8-14AE-619295942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1983F-2C6C-FD2E-187E-44A0B441A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26E63-6CAC-E9E4-BF3F-C256D7931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5591-7348-4410-8FD7-DA388D80B05C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2C139-7A5D-5405-E52E-049003BEA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44655-C0E1-8A45-9962-DEB5CF93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8279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3B46B-1610-0CE6-7155-D123E374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4927F-6A1D-B152-1C11-14603B53F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B9BDF-D021-93E2-48DC-E3FB251E0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E5703-3C09-48F0-BC15-A8F80091436C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4683-C2DB-CF7A-5C79-0094EA7CF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27840-6CAF-B6FA-3558-8E7408C33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11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BAEA-A6E1-3B7C-66B0-6AA9B4168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0147" y="1087567"/>
            <a:ext cx="9518554" cy="814592"/>
          </a:xfrm>
        </p:spPr>
        <p:txBody>
          <a:bodyPr>
            <a:normAutofit fontScale="90000"/>
          </a:bodyPr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CSE (Data Science)</a:t>
            </a:r>
            <a:endParaRPr lang="en-IN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Data Engineering</a:t>
            </a:r>
          </a:p>
          <a:p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 V    Section: A    Regulation: R24    Course Code: R24MSCSP001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7393A-5152-2239-E68B-758F10844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847" y="1982521"/>
            <a:ext cx="9144000" cy="851288"/>
          </a:xfrm>
        </p:spPr>
        <p:txBody>
          <a:bodyPr>
            <a:norm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 SmartGarbage Chintalavalasa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- Community Waste Management Portal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 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0522D6-D17F-C571-6E54-DC1EB5D4F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835658"/>
              </p:ext>
            </p:extLst>
          </p:nvPr>
        </p:nvGraphicFramePr>
        <p:xfrm>
          <a:off x="3123336" y="2841523"/>
          <a:ext cx="6246761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4">
                  <a:extLst>
                    <a:ext uri="{9D8B030D-6E8A-4147-A177-3AD203B41FA5}">
                      <a16:colId xmlns:a16="http://schemas.microsoft.com/office/drawing/2014/main" val="2978184859"/>
                    </a:ext>
                  </a:extLst>
                </a:gridCol>
                <a:gridCol w="2408903">
                  <a:extLst>
                    <a:ext uri="{9D8B030D-6E8A-4147-A177-3AD203B41FA5}">
                      <a16:colId xmlns:a16="http://schemas.microsoft.com/office/drawing/2014/main" val="2193938237"/>
                    </a:ext>
                  </a:extLst>
                </a:gridCol>
                <a:gridCol w="2802194">
                  <a:extLst>
                    <a:ext uri="{9D8B030D-6E8A-4147-A177-3AD203B41FA5}">
                      <a16:colId xmlns:a16="http://schemas.microsoft.com/office/drawing/2014/main" val="2017919128"/>
                    </a:ext>
                  </a:extLst>
                </a:gridCol>
              </a:tblGrid>
              <a:tr h="28054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 Number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48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M.Jaganmohan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0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2.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L.Reshma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44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3.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P.Narashimha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Murthy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27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4.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K.Augustin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Paul Kumar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872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39C9FE-9A55-D878-4113-BB45C8E42B25}"/>
              </a:ext>
            </a:extLst>
          </p:cNvPr>
          <p:cNvSpPr txBox="1"/>
          <p:nvPr/>
        </p:nvSpPr>
        <p:spPr>
          <a:xfrm>
            <a:off x="666564" y="5004620"/>
            <a:ext cx="4780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  <a:r>
              <a:rPr lang="en-IN" dirty="0" err="1"/>
              <a:t>Mrs.S.Nikhila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</a:t>
            </a:r>
            <a:r>
              <a:rPr lang="en-IN" dirty="0"/>
              <a:t>Assistant Professor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25BDB-B544-A468-80FA-5C328DABA918}"/>
              </a:ext>
            </a:extLst>
          </p:cNvPr>
          <p:cNvSpPr txBox="1"/>
          <p:nvPr/>
        </p:nvSpPr>
        <p:spPr>
          <a:xfrm>
            <a:off x="666564" y="5770433"/>
            <a:ext cx="4128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Coordinator: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228F4-F1C6-996C-1333-E77944D0112F}"/>
              </a:ext>
            </a:extLst>
          </p:cNvPr>
          <p:cNvSpPr txBox="1"/>
          <p:nvPr/>
        </p:nvSpPr>
        <p:spPr>
          <a:xfrm>
            <a:off x="7441620" y="5767836"/>
            <a:ext cx="3856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 V. Jyothi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Associate Professor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A81387-CAA0-B664-E5E7-652103F746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90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20921-4932-359B-99DF-4AA4E8AA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48609-A98A-9DB7-F9E6-DD71B73C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br>
              <a:rPr lang="en-IN" dirty="0"/>
            </a:br>
            <a:r>
              <a:rPr lang="en-IN" b="1" dirty="0" err="1"/>
              <a:t>SmartGarbage is a community waste-management web portal for the five wards of Chintalavalasa Gram Panchayat (Vizianagaram, Andhra Pradesh), built with Python (Flask), Jinja2 + Bootstrap 5, and PostgreSQL on Supabase.</a:t>
            </a:r>
            <a:endParaRPr lang="en-IN" dirty="0"/>
          </a:p>
          <a:p>
            <a:r>
              <a:rPr lang="en-IN" b="1" dirty="0" err="1"/>
              <a:t>Citizens look up ward-wise collection schedules and report overflow with automatic GPS and photo proof; the Gram Panchayat runs a live control room with an ML-ranked dispatch queue; workers close the loop with photo + GPS evidence.</a:t>
            </a:r>
          </a:p>
          <a:p>
            <a:r>
              <a:rPr lang="en-IN" b="1" dirty="0" err="1"/>
              <a:t>A RandomForestRegressor predicts bin fill levels from ward, day, season and recent complaints, prioritising collections before bins overflow.</a:t>
            </a:r>
          </a:p>
          <a:p>
            <a:r>
              <a:rPr lang="en-IN" b="1" dirty="0" err="1"/>
              <a:t>The app is an offline-first PWA (service worker + IndexedDB background sync), bilingual (English/Telugu, 921 strings), secured with all 9 OWASP headers and HMAC-SHA256-signed IoT telemetry, deployed free on Render + Supabase + Cloudflare.</a:t>
            </a:r>
          </a:p>
          <a:p>
            <a:r>
              <a:rPr lang="en-IN" b="1" dirty="0" err="1"/>
              <a:t>A free 24x7 grievance helpline (1800-119-9111) and a WhatsApp fallback card back up every digital channel.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5E744-4F16-AB16-DDA3-CC5C491B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5AC38-09FE-7208-D128-A2197A2C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2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7E8606-96F4-B880-AF30-0C51589D86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0425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A163-6249-C153-BF1D-0EAD5B5D0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E6A8-1D4F-F059-0DFB-EE7106621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/>
              <a:t>Local Context</a:t>
            </a:r>
          </a:p>
          <a:p>
            <a:r>
              <a:rPr lang="en-IN" b="1" dirty="0"/>
              <a:t>Study area: Chintalavalasa Gram Panchayat, Denkada Mandal, Vizianagaram district - about 12,000 residents across 5 wards, next to the MVGR campus.</a:t>
            </a:r>
          </a:p>
          <a:p>
            <a:r>
              <a:rPr lang="en-IN" b="1" dirty="0"/>
              <a:t>Growth strain: rapid residential expansion has outpaced manual waste collection.</a:t>
            </a:r>
          </a:p>
          <a:p>
            <a:r>
              <a:rPr lang="en-IN" b="1" dirty="0"/>
              <a:t>The Communication Bottleneck</a:t>
            </a:r>
          </a:p>
          <a:p>
            <a:r>
              <a:rPr lang="en-IN" b="1" dirty="0"/>
              <a:t>Manual workflows: fixed tractor routes, paper registers, no public tracking.</a:t>
            </a:r>
          </a:p>
          <a:p>
            <a:r>
              <a:rPr lang="en-IN" b="1" dirty="0"/>
              <a:t>Information vacuum: no notice boards, SMS alerts or schedule lookups.</a:t>
            </a:r>
          </a:p>
          <a:p>
            <a:r>
              <a:rPr lang="en-IN" b="1" dirty="0"/>
              <a:t>Project objective: a low-cost, smartphone-friendly web utility that digitises village sanitation end to end - schedules, grievances, IoT monitoring, ML prediction and billing - on free-tier cloud infrastructure.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0161D-19CD-E770-288B-8FB741A1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027E8-23A5-F915-61C5-AC94CD2C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744142-7547-0C57-B36F-46CAF270E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244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F1CE-E15D-F045-5F27-8386F788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38444-F448-26A9-5077-57C05FD0C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Infrastructure &amp; Communication Gaps</a:t>
            </a:r>
          </a:p>
          <a:p>
            <a:r>
              <a:rPr lang="en-IN" b="1" dirty="0"/>
              <a:t>Information blackout: no notice boards, SMS alerts or digital tracking of collection timings.</a:t>
            </a:r>
          </a:p>
          <a:p>
            <a:r>
              <a:rPr lang="en-IN" b="1" dirty="0"/>
              <a:t>Unpredictable routines: trucks follow inconsistent schedules; waste sits on streets for days.</a:t>
            </a:r>
          </a:p>
          <a:p>
            <a:r>
              <a:rPr lang="en-IN" b="1" dirty="0"/>
              <a:t>Zero accountability: citizens have no channel to report missed collections.</a:t>
            </a:r>
          </a:p>
          <a:p>
            <a:r>
              <a:rPr lang="en-IN" b="1" dirty="0"/>
              <a:t>Public Health &amp; Environmental Hazards</a:t>
            </a:r>
          </a:p>
          <a:p>
            <a:r>
              <a:rPr lang="en-IN" b="1" dirty="0"/>
              <a:t>Vector breeding: overflowing bins become mosquito breeding grounds in monsoon.</a:t>
            </a:r>
          </a:p>
          <a:p>
            <a:r>
              <a:rPr lang="en-IN" b="1" dirty="0"/>
              <a:t>Epidemiological risk: community exposure to waterborne disease rises.</a:t>
            </a:r>
          </a:p>
          <a:p>
            <a:r>
              <a:rPr lang="en-IN" b="1" dirty="0"/>
              <a:t>Missing data: the panchayat cannot see fill levels, complaint hotspots or worker performance - so routes and budgets are planned blind.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BFB55-6FFB-24BF-FC26-16756F9C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66203-58FD-8CDB-1D75-2688B4B3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D5D761-2FED-7F99-3699-8A324DA6BA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584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1DCD-EEEE-3347-5C0C-10E73A5F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309FA-ECA9-0D37-3075-3DFE51A0B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Resident Empowerment &amp; Transparency</a:t>
            </a:r>
          </a:p>
          <a:p>
            <a:r>
              <a:rPr lang="en-IN" b="1" dirty="0"/>
              <a:t>Instant schedule access: street-level collection timetable lookup for every ward.</a:t>
            </a:r>
          </a:p>
          <a:p>
            <a:r>
              <a:rPr lang="en-IN" b="1" dirty="0"/>
              <a:t>Paperless grievances: GPS + photo complaint filing with trackable tokens.</a:t>
            </a:r>
          </a:p>
          <a:p>
            <a:r>
              <a:rPr lang="en-IN" b="1" dirty="0"/>
              <a:t>Proactive alerts: ML overflow prediction pushes warnings before bins spill.</a:t>
            </a:r>
          </a:p>
          <a:p>
            <a:r>
              <a:rPr lang="en-IN" b="1" dirty="0"/>
              <a:t>Government Automation &amp; Engineering</a:t>
            </a:r>
          </a:p>
          <a:p>
            <a:r>
              <a:rPr lang="en-IN" b="1" dirty="0"/>
              <a:t>Centralised command: secure admin control room with live IoT bin telemetry.</a:t>
            </a:r>
          </a:p>
          <a:p>
            <a:r>
              <a:rPr lang="en-IN" b="1" dirty="0"/>
              <a:t>ML-ranked dispatch: trucks clear the fullest bins first - fewer trips, less fuel.</a:t>
            </a:r>
          </a:p>
          <a:p>
            <a:r>
              <a:rPr lang="en-IN" b="1" dirty="0"/>
              <a:t>Inclusive channels: WhatsApp fallback card + toll-free helpline 1800-119-9111 and offline-first PWA for low-connectivity households.</a:t>
            </a:r>
          </a:p>
          <a:p>
            <a:r>
              <a:rPr lang="en-IN" b="1" dirty="0"/>
              <a:t>Pay-as-you-throw billing: PAYT invoices with Green Points gamification to reward source segregation.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FF40B-8D9A-3811-177F-61E7CFC63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B19C1-E836-3143-E8F6-83D3B2B41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0407FB-5EAD-D102-C031-EE6963360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795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8FEA8-C384-12D9-AB4F-914A0FC4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0B15C-BAE5-AEC8-6CE9-C41F378D5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Boundary &amp; Administrative Limits</a:t>
            </a:r>
          </a:p>
          <a:p>
            <a:r>
              <a:rPr lang="en-IN" b="1" dirty="0"/>
              <a:t>Geographic target: the five wards of Chintalavalasa Gram Panchayat.</a:t>
            </a:r>
          </a:p>
          <a:p>
            <a:r>
              <a:rPr lang="en-IN" b="1" dirty="0"/>
              <a:t>Sector mapping: Ward 1 MVGR area, Ward 2 Junction, Ward 3 RTC Colony, Ward 4 Ramalayam Street, Ward 5 Sai Nagar.</a:t>
            </a:r>
          </a:p>
          <a:p>
            <a:r>
              <a:rPr lang="en-IN" b="1" dirty="0"/>
              <a:t>User personas: residents, panchayat sanitation staff, workers and admins.</a:t>
            </a:r>
          </a:p>
          <a:p>
            <a:r>
              <a:rPr lang="en-IN" b="1" dirty="0"/>
              <a:t>Functional &amp; Technical Limits</a:t>
            </a:r>
          </a:p>
          <a:p>
            <a:r>
              <a:rPr lang="en-IN" b="1" dirty="0"/>
              <a:t>Web architecture: responsive three-tier portal - Flask 3 + Jinja2/Bootstrap 5 + PostgreSQL (Supabase) with 23 models and 22 Alembic migrations.</a:t>
            </a:r>
          </a:p>
          <a:p>
            <a:r>
              <a:rPr lang="en-IN" b="1" dirty="0"/>
              <a:t>ML scope: RandomForestRegressor trained on a 600-row synthetic grid for bin overflow prediction; transparent heuristic fallback.</a:t>
            </a:r>
          </a:p>
          <a:p>
            <a:r>
              <a:rPr lang="en-IN" b="1" dirty="0"/>
              <a:t>Out of scope: native mobile apps, physical sensor manufacturing, live municipal API integration, paid WhatsApp campaign templates.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C5961-D989-CCB9-FD83-F855C7B0B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3A722-16A3-7F28-8B33-145DDBD1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55ACBE-92F0-F66A-20B2-BAA526B703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497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9C14-2B02-B270-5179-DFDBCC78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 Background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DC786-22BB-A884-8B53-DA2698708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064" y="1490059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Traditional &amp; Existing Systems</a:t>
            </a:r>
          </a:p>
          <a:p>
            <a:r>
              <a:rPr lang="en-IN" b="1" dirty="0"/>
              <a:t>Static routing inefficiency: fixed routes ignore real bin fill levels, wasting fuel.</a:t>
            </a:r>
          </a:p>
          <a:p>
            <a:r>
              <a:rPr lang="en-IN" b="1" dirty="0"/>
              <a:t>Tracking blind spots: no public communication grid; complaints untracked.</a:t>
            </a:r>
          </a:p>
          <a:p>
            <a:r>
              <a:rPr lang="en-IN" b="1" dirty="0"/>
              <a:t>High infrastructure cost: earlier smart-bins rely on expensive proprietary sensors.</a:t>
            </a:r>
          </a:p>
          <a:p>
            <a:r>
              <a:rPr lang="en-IN" b="1" dirty="0"/>
              <a:t>Modern Technical Baseline</a:t>
            </a:r>
          </a:p>
          <a:p>
            <a:r>
              <a:rPr lang="en-IN" b="1" dirty="0"/>
              <a:t>Anagnostopoulos et al. (2015): IoT bin monitoring cuts collection costs 30-50%.</a:t>
            </a:r>
          </a:p>
          <a:p>
            <a:r>
              <a:rPr lang="en-IN" b="1" dirty="0"/>
              <a:t>Chen et al. (2020): Random Forest matches boosting accuracy for short-term waste prediction at lower serving cost.</a:t>
            </a:r>
          </a:p>
          <a:p>
            <a:r>
              <a:rPr lang="en-IN" b="1" dirty="0"/>
              <a:t>GOV.UK / WCAG 2.1 AA: the accessibility benchmark - ARIA landmarks, skip links, contrast, keyboard navigation.</a:t>
            </a:r>
          </a:p>
          <a:p>
            <a:r>
              <a:rPr lang="en-IN" b="1" dirty="0"/>
              <a:t>Gap: no integrated low-cost platform joins grievances + scheduling + IoT + ML + billing + offline access for semi-urban panchayats. SmartGarbage fills exactly that gap.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7CDDA-2D40-BA62-8006-5B7536C1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0E2F4-4D03-64AC-6C32-461FDD37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EFD5C-1004-C409-41F8-E5034B45AD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011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DCCA-37C5-B802-67BD-508095628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Gathered/ Data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BCA9F-57F0-F61B-39F7-21618BD0B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Field Data Layer</a:t>
            </a:r>
          </a:p>
          <a:p>
            <a:r>
              <a:rPr lang="en-IN" b="1" dirty="0"/>
              <a:t>Community interviews: residents, ward members and sanitation workers.</a:t>
            </a:r>
          </a:p>
          <a:p>
            <a:r>
              <a:rPr lang="en-IN" b="1" dirty="0"/>
              <a:t>Field observation: on-site study of collection routes and complaint handling.</a:t>
            </a:r>
          </a:p>
          <a:p>
            <a:r>
              <a:rPr lang="en-IN" b="1" dirty="0"/>
              <a:t>Survey grounding: resident survey responses (docs/survey_responses.csv) shaped the ward parameters and complaint taxonomy.</a:t>
            </a:r>
          </a:p>
          <a:p>
            <a:r>
              <a:rPr lang="en-IN" b="1" dirty="0"/>
              <a:t>System Data Layer</a:t>
            </a:r>
          </a:p>
          <a:p>
            <a:r>
              <a:rPr lang="en-IN" b="1" dirty="0"/>
              <a:t>Ward registry: coordinates for the 5 wards (lat 18.055-18.075, lon 83.40-83.42).</a:t>
            </a:r>
          </a:p>
          <a:p>
            <a:r>
              <a:rPr lang="en-IN" b="1" dirty="0"/>
              <a:t>Synthetic ML grid: 600 rows - day-of-week, season index, recent complaints, ward id - because historical telemetry does not exist yet.</a:t>
            </a:r>
          </a:p>
          <a:p>
            <a:r>
              <a:rPr lang="en-IN" b="1" dirty="0"/>
              <a:t>Simulated IoT telemetry: fill level, battery, temperature, methane from HMAC-signed device posts (scripts/seed_demo_data.py).</a:t>
            </a:r>
          </a:p>
          <a:p>
            <a:r>
              <a:rPr lang="en-IN" b="1" dirty="0"/>
              <a:t>Live application data: complaints with GPS + photos, schedules, declarations, PAYT invoices in PostgreSQL (Supabase).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F7C9E-6959-7DF2-0958-3377A79E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876AD-1BA9-F95A-15CD-7AD191B7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6071DB-0521-6C96-24EB-B0E0C1F611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67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0110-51AF-7502-51AC-6C218D29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629C4-E906-5C86-8EDD-4C2E1CC8F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ECD8A-E1BD-594A-43F2-927C69F9E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32E1F-EF2A-2160-FDB2-EBCAAA8B2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BA0A72-4D8C-43BA-8FFD-E292483965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flow_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77440"/>
            <a:ext cx="10698480" cy="343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8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8D49-10AC-9C01-4FAD-F7330B26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System Design 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DB66-F142-AB58-0A08-67AF99A00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783080"/>
            <a:ext cx="5303520" cy="4343400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spcAft>
                <a:spcPts val="700"/>
              </a:spcAft>
              <a:buNone/>
            </a:pPr>
            <a:r>
              <a:rPr lang="en-IN" b="1" dirty="0" sz="130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- six layers</a:t>
            </a:r>
          </a:p>
          <a:p>
            <a:pPr>
              <a:spcAft>
                <a:spcPts val="700"/>
              </a:spcAft>
            </a:pPr>
            <a:r>
              <a:rPr lang="en-IN" b="0" dirty="0" sz="1150">
                <a:latin typeface="Times New Roman" panose="02020603050405020304" pitchFamily="18" charset="0"/>
                <a:cs typeface="Times New Roman" panose="02020603050405020304" pitchFamily="18" charset="0"/>
              </a:rPr>
              <a:t>1  Raw input: schedules, complaints, IoT telemetry, declarations, worker GPS.</a:t>
            </a:r>
          </a:p>
          <a:p>
            <a:pPr>
              <a:spcAft>
                <a:spcPts val="700"/>
              </a:spcAft>
            </a:pPr>
            <a:r>
              <a:rPr lang="en-IN" b="0" dirty="0" sz="1150">
                <a:latin typeface="Times New Roman" panose="02020603050405020304" pitchFamily="18" charset="0"/>
                <a:cs typeface="Times New Roman" panose="02020603050405020304" pitchFamily="18" charset="0"/>
              </a:rPr>
              <a:t>2  Preprocessing: validation, duplicate check (100 m / 30 min), GPS extraction.</a:t>
            </a:r>
          </a:p>
          <a:p>
            <a:pPr>
              <a:spcAft>
                <a:spcPts val="700"/>
              </a:spcAft>
            </a:pPr>
            <a:r>
              <a:rPr lang="en-IN" b="0" dirty="0" sz="1150">
                <a:latin typeface="Times New Roman" panose="02020603050405020304" pitchFamily="18" charset="0"/>
                <a:cs typeface="Times New Roman" panose="02020603050405020304" pitchFamily="18" charset="0"/>
              </a:rPr>
              <a:t>3  Features: ward encoding, season index, complaint counts, fill levels.</a:t>
            </a:r>
          </a:p>
          <a:p>
            <a:pPr>
              <a:spcAft>
                <a:spcPts val="700"/>
              </a:spcAft>
            </a:pPr>
            <a:r>
              <a:rPr lang="en-IN" b="0" dirty="0" sz="1150">
                <a:latin typeface="Times New Roman" panose="02020603050405020304" pitchFamily="18" charset="0"/>
                <a:cs typeface="Times New Roman" panose="02020603050405020304" pitchFamily="18" charset="0"/>
              </a:rPr>
              <a:t>4  ML core: RandomForestRegressor, 600-row grid, cross-validation.</a:t>
            </a:r>
          </a:p>
          <a:p>
            <a:pPr>
              <a:spcAft>
                <a:spcPts val="700"/>
              </a:spcAft>
            </a:pPr>
            <a:r>
              <a:rPr lang="en-IN" b="0" dirty="0" sz="1150">
                <a:latin typeface="Times New Roman" panose="02020603050405020304" pitchFamily="18" charset="0"/>
                <a:cs typeface="Times New Roman" panose="02020603050405020304" pitchFamily="18" charset="0"/>
              </a:rPr>
              <a:t>5  Output: ranked dispatch queue, dashboards, alerts, reports.</a:t>
            </a:r>
          </a:p>
          <a:p>
            <a:pPr>
              <a:spcAft>
                <a:spcPts val="700"/>
              </a:spcAft>
            </a:pPr>
            <a:r>
              <a:rPr lang="en-IN" b="0" dirty="0" sz="1150">
                <a:latin typeface="Times New Roman" panose="02020603050405020304" pitchFamily="18" charset="0"/>
                <a:cs typeface="Times New Roman" panose="02020603050405020304" pitchFamily="18" charset="0"/>
              </a:rPr>
              <a:t>6  Interfaces: public, citizen, admin, worker, PWA offline.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C0D40-7F04-03A5-2DCE-D25BBBF6B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49A0E-E589-F2DF-8882-F3F874F4C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020BEA-D4F0-01C9-E117-A16C361917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fig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83080"/>
            <a:ext cx="5087975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47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37D2-C055-A0AE-76BE-F053AD2C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/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3C6ED-3357-EFD8-4B15-44CFEF90A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497"/>
            <a:ext cx="10515600" cy="462346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Modules (app/routes/)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portal (public.py): schedules, transparency, search, RSS - no login.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portal (citizen.py): complaints, dashboard, Green Points, PAYT invoices.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control room (admin.py): dispatch, live IoT monitor, analytics.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portal (worker.py): dispatch acceptance, GPS tracking, photo evidence.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ingest (iot.py): /api/bin-telemetry + /api/devices/register, HMAC-SHA256.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engine (ml_model.py): RandomForestRegressor + heuristic fallback.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jobs (jobs.py): notifications, SLA escalation, sweeps (Redis + worker.py).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PWA layer (static/sw.js): offline cache, IndexedDB queue, background sync.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Stack: Flask 3.1, SQLAlchemy 2.0, Flask-Talisman, Socket.IO, scikit-learn, Bootstrap 5 - 288 automated tests, 22 migrations.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52C39-8579-8CCB-38A6-30FF6BC3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68C94-0F26-D10A-70D2-DF88E6B3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8C40E3-0616-FC5B-C382-57C8E7C12A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8161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AB7D-6F03-4630-46A2-BB97B39D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20085-5E2E-0801-C48C-3123AE6D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A51D1-6CB3-B4F9-1515-CA9758CD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23FDF-8E03-E0AE-1C24-7A321DBEAE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deplo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1783080"/>
            <a:ext cx="6309360" cy="34926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1783080"/>
            <a:ext cx="4160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Zero-cost cloud topology - push to deploy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GitHub (main) -&gt; Render auto-build: render.yaml defines the Docker service; health check at /health; every push rebuilds + redeploys.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Database: Supabase PostgreSQL - 22 migrations, 23 models.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Edge: Cloudflare DNS + SSL + CDN caching.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Jobs: Redis + worker.py - notifications, SLA alerts.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Monitoring: GitHub Actions pings /health every 15 min.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WhatsApp Cloud parked; helpline 1800-119-9111 + wa.me card are live.</a:t>
            </a:r>
          </a:p>
        </p:txBody>
      </p:sp>
    </p:spTree>
    <p:extLst>
      <p:ext uri="{BB962C8B-B14F-4D97-AF65-F5344CB8AC3E}">
        <p14:creationId xmlns:p14="http://schemas.microsoft.com/office/powerpoint/2010/main" val="800239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AB7D-6F03-4630-46A2-BB97B39D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(Full) / Screenshots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DFC30A-3747-9DE3-EDF5-8A5E20824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355" y="1673067"/>
            <a:ext cx="3744116" cy="167102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20085-5E2E-0801-C48C-3123AE6D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A51D1-6CB3-B4F9-1515-CA9758CD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23FDF-8E03-E0AE-1C24-7A321DBEAE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sg_home_128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1600200"/>
            <a:ext cx="3056128" cy="2148840"/>
          </a:xfrm>
          <a:prstGeom prst="rect">
            <a:avLst/>
          </a:prstGeom>
        </p:spPr>
      </p:pic>
      <p:pic>
        <p:nvPicPr>
          <p:cNvPr id="10" name="Picture 9" descr="sg_schedule_128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0520" y="1600200"/>
            <a:ext cx="3056128" cy="2148840"/>
          </a:xfrm>
          <a:prstGeom prst="rect">
            <a:avLst/>
          </a:prstGeom>
        </p:spPr>
      </p:pic>
      <p:pic>
        <p:nvPicPr>
          <p:cNvPr id="11" name="Picture 10" descr="sg_report_128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9560" y="1600200"/>
            <a:ext cx="3056128" cy="2148840"/>
          </a:xfrm>
          <a:prstGeom prst="rect">
            <a:avLst/>
          </a:prstGeom>
        </p:spPr>
      </p:pic>
      <p:pic>
        <p:nvPicPr>
          <p:cNvPr id="12" name="Picture 11" descr="sg_transparency_128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4069080"/>
            <a:ext cx="3056128" cy="2148840"/>
          </a:xfrm>
          <a:prstGeom prst="rect">
            <a:avLst/>
          </a:prstGeom>
        </p:spPr>
      </p:pic>
      <p:pic>
        <p:nvPicPr>
          <p:cNvPr id="14" name="Picture 13" descr="sg_home_mobile_37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9560" y="4069080"/>
            <a:ext cx="1060282" cy="2148840"/>
          </a:xfrm>
          <a:prstGeom prst="rect">
            <a:avLst/>
          </a:prstGeom>
        </p:spPr>
      </p:pic>
      <p:pic>
        <p:nvPicPr>
          <p:cNvPr id="15" name="Picture 14" descr="audit_1280_impac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60520" y="4069080"/>
            <a:ext cx="3056128" cy="214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39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C339-7109-22A2-C449-4EAB8CD8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Assessment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E307A-6D64-2169-AE94-D06854DB7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Technical Impact</a:t>
            </a:r>
          </a:p>
          <a:p>
            <a:r>
              <a:rPr lang="en-IN" b="1" dirty="0"/>
              <a:t>Full-stack data engineering: 23-model relational schema, 22 migrations, 288 tests - a real production-grade codebase on free-tier infra.</a:t>
            </a:r>
          </a:p>
          <a:p>
            <a:r>
              <a:rPr lang="en-IN" b="1" dirty="0"/>
              <a:t>Predictive capability: RandomForest overflow prediction ranks dispatch before bins spill (R2 ~ 0.93 on the synthetic validation split).</a:t>
            </a:r>
          </a:p>
          <a:p>
            <a:r>
              <a:rPr lang="en-IN" b="1" dirty="0"/>
              <a:t>Integrated platform: grievances + scheduling + IoT + ML + billing + offline PWA in one bilingual system.</a:t>
            </a:r>
          </a:p>
          <a:p>
            <a:r>
              <a:rPr lang="en-IN" b="1" dirty="0"/>
              <a:t>Social &amp; Economic Impact (Chintalavalasa)</a:t>
            </a:r>
          </a:p>
          <a:p>
            <a:r>
              <a:rPr lang="en-IN" b="1" dirty="0"/>
              <a:t>Estimated: complaint resolution 72 h -&gt; 18 h; schedule access 0% -&gt; 100%; GPS-evidenced complaints 85%; segregation compliance 20% -&gt; 26%.</a:t>
            </a:r>
          </a:p>
          <a:p>
            <a:r>
              <a:rPr lang="en-IN" b="1" dirty="0"/>
              <a:t>Green Points turn segregation into a community habit; PAYT makes waste volume visible and billable.</a:t>
            </a:r>
          </a:p>
          <a:p>
            <a:r>
              <a:rPr lang="en-IN" b="1" dirty="0"/>
              <a:t>Stated honestly: values are prototype estimates, not a measured pilot.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49FF7-21AD-45B9-11C8-B23CD9E51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6FE67-A70E-70E3-3F46-A24888613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7ACE34-F113-A962-A26F-C5CFD5FF5D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9317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4A12-A0D7-06D5-FBC6-343B3FF8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E345A-F78E-0E9D-1B8F-9ED5228FB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Data &amp; ML Constraints</a:t>
            </a:r>
          </a:p>
          <a:p>
            <a:r>
              <a:rPr lang="en-IN" b="1" dirty="0"/>
              <a:t>No historical telemetry: generated a 600-row synthetic grid; documented as a limitation, validated pipeline only.</a:t>
            </a:r>
          </a:p>
          <a:p>
            <a:r>
              <a:rPr lang="en-IN" b="1" dirty="0"/>
              <a:t>Ward encoding stability: replaced Python's randomized string hashing with deterministic MD5 digests for reproducible features.</a:t>
            </a:r>
          </a:p>
          <a:p>
            <a:r>
              <a:rPr lang="en-IN" b="1" dirty="0"/>
              <a:t>Offline submissions: solved with service worker + IndexedDB + background sync.</a:t>
            </a:r>
          </a:p>
          <a:p>
            <a:r>
              <a:rPr lang="en-IN" b="1" dirty="0"/>
              <a:t>Duplicate complaints: GPS radius (100 m) + time window (30 min) dedupe.</a:t>
            </a:r>
          </a:p>
          <a:p>
            <a:r>
              <a:rPr lang="en-IN" b="1" dirty="0"/>
              <a:t>Deployment &amp; Security</a:t>
            </a:r>
          </a:p>
          <a:p>
            <a:r>
              <a:rPr lang="en-IN" b="1" dirty="0"/>
              <a:t>Free-tier cold starts: GitHub Actions keep-alive pings every 15 minutes.</a:t>
            </a:r>
          </a:p>
          <a:p>
            <a:r>
              <a:rPr lang="en-IN" b="1" dirty="0"/>
              <a:t>CDN vs sessions: middleware strips cookies from public pages so Cloudflare can cache them.</a:t>
            </a:r>
          </a:p>
          <a:p>
            <a:r>
              <a:rPr lang="en-IN" b="1" dirty="0"/>
              <a:t>IoT authentication: HMAC-SHA256 device signatures - unsigned payloads are rejected (503 without IOT_TELEMETRY_SECRET).</a:t>
            </a:r>
          </a:p>
          <a:p>
            <a:r>
              <a:rPr lang="en-IN" b="1" dirty="0"/>
              <a:t>Headers: all 9 OWASP-recommended security headers via Flask-Talisman.</a:t>
            </a:r>
          </a:p>
          <a:p>
            <a:r>
              <a:rPr lang="en-IN" b="1" dirty="0"/>
              <a:t>Payments: Razorpay test keys + UPI primary path until merchant onboarding.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1DEE8-2712-97F8-0AA0-D407B46B9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46F4-1131-9BC1-6D0A-6F9F2793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1C8C2-B765-3F27-69DF-415556C21F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6308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16F3-F74C-A352-259B-B4A788B5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FB79-58CF-5340-6358-31F2F2D16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 err="1"/>
              <a:t>SmartGarbage bridges the communication gap between Chintalavalasa's citizens and their Gram Panchayat, replacing unpredictable routines with a reliable, measurable web platform.</a:t>
            </a:r>
          </a:p>
          <a:p>
            <a:r>
              <a:rPr lang="en-IN" b="1" dirty="0" err="1"/>
              <a:t>Empowers communities: total schedule transparency and GPS+photo grievance filing with trackable outcomes.</a:t>
            </a:r>
          </a:p>
          <a:p>
            <a:r>
              <a:rPr lang="en-IN" b="1" dirty="0" err="1"/>
              <a:t>Ensures accountability: every complaint becomes an audited, time-stamped task with photo + GPS evidence on closure.</a:t>
            </a:r>
          </a:p>
          <a:p>
            <a:r>
              <a:rPr lang="en-IN" b="1" dirty="0" err="1"/>
              <a:t>Drives proactive management: ML-ranked dispatch clears fullest bins first; IoT telemetry and dashboards replace guesswork.</a:t>
            </a:r>
          </a:p>
          <a:p>
            <a:r>
              <a:rPr lang="en-IN" b="1" dirty="0" err="1"/>
              <a:t>Stays inclusive: offline-first PWA, English + Telugu, WhatsApp fallback card and the free 1800-119-9111 helpline keep every household connected.</a:t>
            </a:r>
          </a:p>
          <a:p>
            <a:r>
              <a:rPr lang="en-IN" b="1" dirty="0" err="1"/>
              <a:t>Runs at zero cost and is replicable by any panchayat: update ward coordinates and deploy.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CB72-4075-D8FE-FA30-61E1E501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6ABC5-6C65-1409-EB69-E2FAC169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2F3026-24E1-9526-6935-DA510D74B4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795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0666-1392-9333-3018-8197057B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CDF7F-070E-7FCE-AA62-C1973947F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From prototype to production</a:t>
            </a:r>
          </a:p>
          <a:p>
            <a:r>
              <a:rPr lang="en-IN" dirty="0"/>
              <a:t>Real-world data: replace the synthetic grid with live bin telemetry from a community pilot; measure before/after impact properly.</a:t>
            </a:r>
          </a:p>
          <a:p>
            <a:r>
              <a:rPr lang="en-IN" dirty="0"/>
              <a:t>IoT hardware: deploy ultrasonic fill sensors + GPS trackers with LoRaWAN/NB-IoT.</a:t>
            </a:r>
          </a:p>
          <a:p>
            <a:r>
              <a:rPr lang="en-IN" dirty="0"/>
              <a:t>WhatsApp automation: activate the parked WhatsApp Cloud API (WHATSAPP_CLOUD_TOKEN already wired) for chatbot grievance filing and status pings.</a:t>
            </a:r>
          </a:p>
          <a:p>
            <a:r>
              <a:rPr lang="en-IN" dirty="0"/>
              <a:t>Mobile app: native Android client with push-first design.</a:t>
            </a:r>
          </a:p>
          <a:p>
            <a:r>
              <a:rPr lang="en-IN" dirty="0"/>
              <a:t>Advanced analytics: time-series forecasting, route optimisation, computer-vision waste classification.</a:t>
            </a:r>
          </a:p>
          <a:p>
            <a:r>
              <a:rPr lang="en-IN" dirty="0"/>
              <a:t>Scale-out: multi-panchayat tenancy, district dashboards, SBM Grameen reporting.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08B5E-4483-07DB-81C8-839D380A8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08094-4C4F-2666-5C5E-3A8653E9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329E75-110B-7CF9-13A1-2358F49180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9306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AD2F-7B2B-C452-DECD-919AEC63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BDFA1-988C-7F19-3A28-BB7F45AB2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Municipal Frameworks &amp; Guidelines</a:t>
            </a:r>
            <a:endParaRPr lang="en-IN" dirty="0"/>
          </a:p>
          <a:p>
            <a:r>
              <a:rPr lang="en-IN" b="1" dirty="0"/>
              <a:t>Swachh Bharat Mission (Grameen) Phase-II guidelines, Ministry of Jal Shakti.</a:t>
            </a:r>
          </a:p>
          <a:p>
            <a:r>
              <a:rPr lang="en-IN" b="1" dirty="0"/>
              <a:t>AP Municipal Administration waste-management bylaws; Vizianagaram district data.</a:t>
            </a:r>
          </a:p>
          <a:p>
            <a:r>
              <a:rPr lang="en-IN" b="1" dirty="0"/>
              <a:t>Web &amp; Backend Architecture</a:t>
            </a:r>
          </a:p>
          <a:p>
            <a:r>
              <a:rPr lang="en-IN" b="1" dirty="0"/>
              <a:t>Flask 3.x documentation (Pallets Projects) - application factory, blueprints.</a:t>
            </a:r>
          </a:p>
          <a:p>
            <a:r>
              <a:rPr lang="en-IN" b="1" dirty="0"/>
              <a:t>SQLAlchemy 2.0 documentation; Alembic migration framework.</a:t>
            </a:r>
          </a:p>
          <a:p>
            <a:r>
              <a:rPr lang="en-IN" b="1" dirty="0"/>
              <a:t>Machine Learning &amp; Predictive Modeling</a:t>
            </a:r>
          </a:p>
          <a:p>
            <a:r>
              <a:rPr lang="en-IN" b="1" dirty="0"/>
              <a:t>Leo Breiman (2001), Random Forests, Machine Learning 45(1), 5-32.</a:t>
            </a:r>
          </a:p>
          <a:p>
            <a:r>
              <a:rPr lang="en-IN" b="1" dirty="0"/>
              <a:t>scikit-learn documentation - RandomForestRegressor, cross-validation.</a:t>
            </a:r>
          </a:p>
          <a:p>
            <a:r>
              <a:rPr lang="en-IN" b="1" dirty="0"/>
              <a:t>Anagnostopoulos et al. (2015), Waste Management 45, 34-41 - IoT bin monitoring.</a:t>
            </a:r>
          </a:p>
          <a:p>
            <a:r>
              <a:rPr lang="en-IN" b="1" dirty="0"/>
              <a:t>Chen et al. (2020) - ensemble learning for short-term waste prediction.</a:t>
            </a:r>
          </a:p>
          <a:p>
            <a:r>
              <a:rPr lang="en-IN" b="1" dirty="0"/>
              <a:t>Accessibility &amp; Security</a:t>
            </a:r>
          </a:p>
          <a:p>
            <a:r>
              <a:rPr lang="en-IN" b="1" dirty="0"/>
              <a:t>WCAG 2.1 Level AA (W3C); OWASP Top 10 and secure-headers project.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73FE8-0932-BE50-70F2-DCCFB993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A9A61-9870-D7FA-34D9-C5E639AC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63E415-325C-FD52-3C9D-49EB0FD087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9376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66C50-6FD8-DD5F-6FF5-BB9DD6B7E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Queries/ Questions? </a:t>
            </a:r>
          </a:p>
          <a:p>
            <a:r>
              <a:rPr lang="en-IN" b="1" dirty="0"/>
              <a:t>Open Floor for Discussion</a:t>
            </a:r>
          </a:p>
          <a:p>
            <a:r>
              <a:rPr lang="en-IN" dirty="0"/>
              <a:t>Thank you for your time and feedback.</a:t>
            </a:r>
          </a:p>
          <a:p>
            <a:r>
              <a:rPr lang="en-IN" dirty="0"/>
              <a:t>Welcoming all queries, suggestions, and technical questions from the panel.</a:t>
            </a:r>
          </a:p>
          <a:p>
            <a:pPr marL="0" indent="0" algn="ctr"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389F3-38E7-E345-6C1B-55E8D0E4A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25-09-2026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642DD-AAA8-D382-7575-AA032AC1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8474F-C52C-F540-9F28-9B61158722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357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2061</Words>
  <Application>Microsoft Office PowerPoint</Application>
  <PresentationFormat>Widescreen</PresentationFormat>
  <Paragraphs>209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               Community Project  Branch: CSE-Artificial Intelligence &amp; Machine Learning Department: Data Engineering  Semester: V    Section: A          Regulation: R24             Course Code: R24MSCSP001</vt:lpstr>
      <vt:lpstr>Abstract</vt:lpstr>
      <vt:lpstr>Introduction</vt:lpstr>
      <vt:lpstr>Problem Statement </vt:lpstr>
      <vt:lpstr>Project Objectives </vt:lpstr>
      <vt:lpstr>Project Scope </vt:lpstr>
      <vt:lpstr>Literature Review/ Background Study</vt:lpstr>
      <vt:lpstr>Data Gathered/ Data Used</vt:lpstr>
      <vt:lpstr>Methodology / System Design</vt:lpstr>
      <vt:lpstr>Methodology/ System Design(cont.)</vt:lpstr>
      <vt:lpstr>Implementation / Modules</vt:lpstr>
      <vt:lpstr>Results (Full) / Screenshots </vt:lpstr>
      <vt:lpstr>Impact Assessment </vt:lpstr>
      <vt:lpstr>Challenges Faced </vt:lpstr>
      <vt:lpstr>Conclusion </vt:lpstr>
      <vt:lpstr>Future Work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Project  Branch: CSE-Artificial Intelligence &amp; Machine Learning Department: Data Engineering  Semester: V    Section: A          Regulation: R24             Course Code: R24MSCSP001</dc:title>
  <dc:creator>Sushma Vatekar</dc:creator>
  <cp:lastModifiedBy>Chandini Mopada</cp:lastModifiedBy>
  <cp:revision>7</cp:revision>
  <dcterms:created xsi:type="dcterms:W3CDTF">2025-09-22T15:29:51Z</dcterms:created>
  <dcterms:modified xsi:type="dcterms:W3CDTF">2026-07-03T18:10:12Z</dcterms:modified>
</cp:coreProperties>
</file>