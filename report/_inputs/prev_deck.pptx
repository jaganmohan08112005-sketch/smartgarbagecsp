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CSE-Artificial Intelligence &amp; Machine Learning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Smartgarbage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2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5658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M.Jaganmohan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L.Reshma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P.Narashimha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Murthy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K.Augustin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Paul Kumar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IN" dirty="0" err="1"/>
              <a:t>Mrs.S.Nikhila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IN" dirty="0"/>
              <a:t>Assistant Professor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8609-A98A-9DB7-F9E6-DD71B73C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SmartGarbage</a:t>
            </a:r>
            <a:r>
              <a:rPr lang="en-IN" dirty="0"/>
              <a:t> is a web portal engineered using </a:t>
            </a:r>
            <a:r>
              <a:rPr lang="en-IN" b="1" dirty="0"/>
              <a:t>Python(Flask),HTML, and SQLite</a:t>
            </a:r>
            <a:r>
              <a:rPr lang="en-IN" dirty="0"/>
              <a:t> to fix solid waste collection bottlenecks in </a:t>
            </a:r>
            <a:r>
              <a:rPr lang="en-IN" b="1" dirty="0" err="1"/>
              <a:t>Chintalavalasa</a:t>
            </a:r>
            <a:r>
              <a:rPr lang="en-IN" b="1" dirty="0"/>
              <a:t> Village</a:t>
            </a:r>
            <a:r>
              <a:rPr lang="en-IN" dirty="0"/>
              <a:t>. It provides citizens with instant street schedule searches and a simple form to report missed pickups with live phone photo proof. This data populates a secure </a:t>
            </a:r>
            <a:r>
              <a:rPr lang="en-IN" b="1" dirty="0"/>
              <a:t>Gram Panchayat</a:t>
            </a:r>
            <a:r>
              <a:rPr lang="en-IN" dirty="0"/>
              <a:t> dashboard, allowing government officials to verify issues visually and deploy collection tractors efficiently. The system also integrates a </a:t>
            </a:r>
            <a:r>
              <a:rPr lang="en-IN" b="1" dirty="0"/>
              <a:t>Random Forest</a:t>
            </a:r>
            <a:r>
              <a:rPr lang="en-IN" dirty="0"/>
              <a:t> machine learning model that tracks live weather data and report volumes to forecast route delays in advance, turning a daily civic challenge into a simple, trackable, and accountable digital workflow.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E744-4F16-AB16-DDA3-CC5C491B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4F2A-A0F5-462A-B1D5-45ADC5AE6C5E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AC38-09FE-7208-D128-A2197A2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7E8606-96F4-B880-AF30-0C51589D8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6A8-1D4F-F059-0DFB-EE71066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🏛️ Local Context &amp; Demographics</a:t>
            </a:r>
          </a:p>
          <a:p>
            <a:r>
              <a:rPr lang="en-IN" b="1" dirty="0"/>
              <a:t>Target Study Area:</a:t>
            </a:r>
            <a:r>
              <a:rPr lang="en-IN" dirty="0"/>
              <a:t> </a:t>
            </a:r>
            <a:r>
              <a:rPr lang="en-IN" dirty="0" err="1"/>
              <a:t>Chintalavalasa</a:t>
            </a:r>
            <a:r>
              <a:rPr lang="en-IN" dirty="0"/>
              <a:t> Gram Panchayat layout (Vizianagaram).</a:t>
            </a:r>
          </a:p>
          <a:p>
            <a:r>
              <a:rPr lang="en-IN" b="1" dirty="0"/>
              <a:t>Population Surge:</a:t>
            </a:r>
            <a:r>
              <a:rPr lang="en-IN" dirty="0"/>
              <a:t> Rapid residential expansion driven by the adjacent MVGR campus.</a:t>
            </a:r>
          </a:p>
          <a:p>
            <a:r>
              <a:rPr lang="en-IN" b="1" dirty="0"/>
              <a:t>Infrastructure Strain:</a:t>
            </a:r>
            <a:r>
              <a:rPr lang="en-IN" dirty="0"/>
              <a:t> Massive increase in daily household solid waste volume.</a:t>
            </a:r>
          </a:p>
          <a:p>
            <a:pPr marL="0" indent="0">
              <a:buNone/>
            </a:pPr>
            <a:r>
              <a:rPr lang="en-IN" b="1" dirty="0"/>
              <a:t>⚠️ The Communication Bottleneck</a:t>
            </a:r>
          </a:p>
          <a:p>
            <a:r>
              <a:rPr lang="en-IN" b="1" dirty="0"/>
              <a:t>Manual Workflows:</a:t>
            </a:r>
            <a:r>
              <a:rPr lang="en-IN" dirty="0"/>
              <a:t> Reliance on traditional, un-tracked tractor collection loops.</a:t>
            </a:r>
          </a:p>
          <a:p>
            <a:r>
              <a:rPr lang="en-IN" b="1" dirty="0"/>
              <a:t>Information Vacuum:</a:t>
            </a:r>
            <a:r>
              <a:rPr lang="en-IN" dirty="0"/>
              <a:t> Zero public notice boards, SMS alerts, or scheduling lookups.</a:t>
            </a:r>
          </a:p>
          <a:p>
            <a:r>
              <a:rPr lang="en-IN" b="1" dirty="0"/>
              <a:t>Project Objective:</a:t>
            </a:r>
            <a:r>
              <a:rPr lang="en-IN" dirty="0"/>
              <a:t> Introduce a low-cost, smartphone-compatible web utility to digitize village sanitation.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61D-19CD-E770-288B-8FB741A1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62A8-FB7E-4CF4-AE0B-1836D97118EA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27E8-23A5-F915-61C5-AC94CD2C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44142-7547-0C57-B36F-46CAF270E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444-F448-26A9-5077-57C05FD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🚫 Infrastructure &amp; Communication Gaps</a:t>
            </a:r>
          </a:p>
          <a:p>
            <a:r>
              <a:rPr lang="en-IN" b="1" dirty="0"/>
              <a:t>Information Blackout</a:t>
            </a:r>
            <a:r>
              <a:rPr lang="en-IN" dirty="0"/>
              <a:t>: Total lack of notice boards, SMS alerts, or digital tracking channels for arrival times.</a:t>
            </a:r>
          </a:p>
          <a:p>
            <a:r>
              <a:rPr lang="en-IN" b="1" dirty="0"/>
              <a:t>Unpredictable Routines</a:t>
            </a:r>
            <a:r>
              <a:rPr lang="en-IN" dirty="0"/>
              <a:t>: Garbage trucks follow inconsistent schedules, causing trash to sit on streets for days.</a:t>
            </a:r>
          </a:p>
          <a:p>
            <a:r>
              <a:rPr lang="en-IN" b="1" dirty="0"/>
              <a:t>Zero Accountability</a:t>
            </a:r>
            <a:r>
              <a:rPr lang="en-IN" dirty="0"/>
              <a:t>: Citizens have no administrative link to report skipped street lines to local authorities.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⚠️ Public Health &amp; Environmental Hazards</a:t>
            </a:r>
          </a:p>
          <a:p>
            <a:r>
              <a:rPr lang="en-IN" b="1" dirty="0"/>
              <a:t>Vector Breeding</a:t>
            </a:r>
            <a:r>
              <a:rPr lang="en-IN" dirty="0"/>
              <a:t>: Piled, rotting waste creates active breeding grounds for mosquitoes during monsoon cycles.</a:t>
            </a:r>
          </a:p>
          <a:p>
            <a:r>
              <a:rPr lang="en-IN" b="1" dirty="0"/>
              <a:t>Epidemiological Risk</a:t>
            </a:r>
            <a:r>
              <a:rPr lang="en-IN" dirty="0"/>
              <a:t>: Heightened community exposure to waterborne diseases like dengue, cholera, and typhoid.</a:t>
            </a:r>
          </a:p>
          <a:p>
            <a:r>
              <a:rPr lang="en-IN" b="1" dirty="0"/>
              <a:t>Stray Animal Hazards</a:t>
            </a:r>
            <a:r>
              <a:rPr lang="en-IN" dirty="0"/>
              <a:t>: Open street-level dumping allows stray dogs to tear trash bags, scattering litter across lanes.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FB55-6FFB-24BF-FC26-16756F9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555F-2F27-45B3-8C9B-E0FE9428F052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6203-58FD-8CDB-1D75-2688B4B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5D761-2FED-7F99-3699-8A324DA6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09FA-ECA9-0D37-3075-3DFE51A0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📱 Resident Empowerment &amp; Transparency</a:t>
            </a:r>
          </a:p>
          <a:p>
            <a:r>
              <a:rPr lang="en-IN" b="1" dirty="0"/>
              <a:t>Eradicate Unpredictability</a:t>
            </a:r>
            <a:r>
              <a:rPr lang="en-IN" dirty="0"/>
              <a:t>: Deliver an immediate, street-level collection schedule lookup portal.</a:t>
            </a:r>
          </a:p>
          <a:p>
            <a:r>
              <a:rPr lang="en-IN" b="1" dirty="0"/>
              <a:t>Paperless Grievance Flow</a:t>
            </a:r>
            <a:r>
              <a:rPr lang="en-IN" dirty="0"/>
              <a:t>: Create a digital form allowing citizens to file reports with live camera photo proof.</a:t>
            </a:r>
          </a:p>
          <a:p>
            <a:r>
              <a:rPr lang="en-IN" b="1" dirty="0"/>
              <a:t>Proactive Public Warning</a:t>
            </a:r>
            <a:r>
              <a:rPr lang="en-IN" dirty="0"/>
              <a:t>: Use machine learning to display advanced route delay alerts to villagers.</a:t>
            </a:r>
          </a:p>
          <a:p>
            <a:pPr marL="0" indent="0">
              <a:buNone/>
            </a:pPr>
            <a:r>
              <a:rPr lang="en-IN" b="1" dirty="0"/>
              <a:t>🏛️ Government Automation &amp; Engineering</a:t>
            </a:r>
          </a:p>
          <a:p>
            <a:r>
              <a:rPr lang="en-IN" b="1" dirty="0"/>
              <a:t>Centralized Command</a:t>
            </a:r>
            <a:r>
              <a:rPr lang="en-IN" dirty="0"/>
              <a:t>: Provide a secure administrative dashboard for Gram Panchayat sanitation desks.</a:t>
            </a:r>
          </a:p>
          <a:p>
            <a:r>
              <a:rPr lang="en-IN" b="1" dirty="0"/>
              <a:t>Visual Audit Control</a:t>
            </a:r>
            <a:r>
              <a:rPr lang="en-IN" dirty="0"/>
              <a:t>: Enable supervisors to instantly verify reported waste piles via uploaded images.</a:t>
            </a:r>
          </a:p>
          <a:p>
            <a:r>
              <a:rPr lang="en-IN" b="1" dirty="0"/>
              <a:t>Coursework Integration</a:t>
            </a:r>
            <a:r>
              <a:rPr lang="en-IN" dirty="0"/>
              <a:t>: Apply </a:t>
            </a:r>
            <a:r>
              <a:rPr lang="en-IN" b="1" dirty="0"/>
              <a:t>Python, Flask, and Random Forest</a:t>
            </a:r>
            <a:r>
              <a:rPr lang="en-IN" dirty="0"/>
              <a:t> subjects to solve a real-world civic issue.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40B-8D9A-3811-177F-61E7CFC6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015C5-18A8-469F-B68B-6A6C54345583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19C1-E836-3143-E8F6-83D3B2B4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407FB-5EAD-D102-C031-EE696336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B15C-BAE5-AEC8-6CE9-C41F378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📍 Boundary &amp; Administrative Limits</a:t>
            </a:r>
          </a:p>
          <a:p>
            <a:r>
              <a:rPr lang="en-IN" b="1" dirty="0"/>
              <a:t>Geographic Target</a:t>
            </a:r>
            <a:r>
              <a:rPr lang="en-IN" dirty="0"/>
              <a:t>: Restricted to the structural boundaries of </a:t>
            </a:r>
            <a:r>
              <a:rPr lang="en-IN" b="1" dirty="0" err="1"/>
              <a:t>Chintalavalasa</a:t>
            </a:r>
            <a:r>
              <a:rPr lang="en-IN" b="1" dirty="0"/>
              <a:t> Gram Panchayat</a:t>
            </a:r>
            <a:r>
              <a:rPr lang="en-IN" dirty="0"/>
              <a:t>.</a:t>
            </a:r>
          </a:p>
          <a:p>
            <a:r>
              <a:rPr lang="en-IN" b="1" dirty="0"/>
              <a:t>Sector Mappings</a:t>
            </a:r>
            <a:r>
              <a:rPr lang="en-IN" dirty="0"/>
              <a:t>: Focused on the five major village residential wards and the college campus road layout.</a:t>
            </a:r>
          </a:p>
          <a:p>
            <a:r>
              <a:rPr lang="en-IN" b="1" dirty="0"/>
              <a:t>User Personas</a:t>
            </a:r>
            <a:r>
              <a:rPr lang="en-IN" dirty="0"/>
              <a:t>: Handles data interaction loops exclusively for local residents and panchayat sanitation staff.</a:t>
            </a:r>
          </a:p>
          <a:p>
            <a:pPr marL="0" indent="0">
              <a:buNone/>
            </a:pPr>
            <a:r>
              <a:rPr lang="en-IN" b="1" dirty="0"/>
              <a:t>🛠️ Functional &amp; Technical Limits</a:t>
            </a:r>
          </a:p>
          <a:p>
            <a:r>
              <a:rPr lang="en-IN" b="1" dirty="0"/>
              <a:t>Web Architecture</a:t>
            </a:r>
            <a:r>
              <a:rPr lang="en-IN" dirty="0"/>
              <a:t>: Implements a lightweight, responsive three-tier portal built via </a:t>
            </a:r>
            <a:r>
              <a:rPr lang="en-IN" b="1" dirty="0"/>
              <a:t>Flask, SQLite, and Bootstrap</a:t>
            </a:r>
            <a:r>
              <a:rPr lang="en-IN" dirty="0"/>
              <a:t>.</a:t>
            </a:r>
          </a:p>
          <a:p>
            <a:r>
              <a:rPr lang="en-IN" b="1" dirty="0"/>
              <a:t>AI </a:t>
            </a:r>
            <a:r>
              <a:rPr lang="en-IN" b="1" dirty="0" err="1"/>
              <a:t>Modeling</a:t>
            </a:r>
            <a:r>
              <a:rPr lang="en-IN" b="1" dirty="0"/>
              <a:t> Scope</a:t>
            </a:r>
            <a:r>
              <a:rPr lang="en-IN" dirty="0"/>
              <a:t>: Uses a </a:t>
            </a:r>
            <a:r>
              <a:rPr lang="en-IN" b="1" dirty="0"/>
              <a:t>Random Forest Classifier</a:t>
            </a:r>
            <a:r>
              <a:rPr lang="en-IN" dirty="0"/>
              <a:t> trained on local parameters for weather-based delay checks.</a:t>
            </a:r>
          </a:p>
          <a:p>
            <a:r>
              <a:rPr lang="en-IN" b="1" dirty="0"/>
              <a:t>Hardware Exclusion</a:t>
            </a:r>
            <a:r>
              <a:rPr lang="en-IN" dirty="0"/>
              <a:t>: Relies entirely on cloud software databases to avoid high hardware sensor installation costs.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5961-D989-CCB9-FD83-F855C7B0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71FD-1390-4BA0-9817-771C1FA47802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A722-16A3-7F28-8B33-145DDBD1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5ACBE-92F0-F66A-20B2-BAA526B7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C786-22BB-A884-8B53-DA2698708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4" y="1490059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📉 Traditional &amp; Existing Systems</a:t>
            </a:r>
          </a:p>
          <a:p>
            <a:r>
              <a:rPr lang="en-IN" b="1" dirty="0"/>
              <a:t>Static Routing Inefficiency</a:t>
            </a:r>
            <a:r>
              <a:rPr lang="en-IN" dirty="0"/>
              <a:t>: Fixed route models operate blindly regardless of actual dump accumulation levels, wasting fuel.</a:t>
            </a:r>
          </a:p>
          <a:p>
            <a:r>
              <a:rPr lang="en-IN" b="1" dirty="0"/>
              <a:t>Tracking Blind Spots</a:t>
            </a:r>
            <a:r>
              <a:rPr lang="en-IN" dirty="0"/>
              <a:t>: Lack of public communication grids isolates citizens and hides operational delay records.</a:t>
            </a:r>
          </a:p>
          <a:p>
            <a:r>
              <a:rPr lang="en-IN" b="1" dirty="0"/>
              <a:t>High Infrastructure Costs</a:t>
            </a:r>
            <a:r>
              <a:rPr lang="en-IN" dirty="0"/>
              <a:t>: Previous smart designs rely on expensive IoT physical bin sensors, making rural deployment impractical.</a:t>
            </a:r>
          </a:p>
          <a:p>
            <a:pPr marL="0" indent="0">
              <a:buNone/>
            </a:pPr>
            <a:r>
              <a:rPr lang="en-IN" b="1" dirty="0"/>
              <a:t>📈 Modern Technical Baseline</a:t>
            </a:r>
          </a:p>
          <a:p>
            <a:r>
              <a:rPr lang="en-IN" b="1" dirty="0"/>
              <a:t>Data-Driven Transparency</a:t>
            </a:r>
            <a:r>
              <a:rPr lang="en-IN" dirty="0"/>
              <a:t>: Literature confirms that relational web apps successfully close public service accountability gaps.</a:t>
            </a:r>
          </a:p>
          <a:p>
            <a:r>
              <a:rPr lang="en-IN" b="1" dirty="0"/>
              <a:t>Ensemble Model Stability</a:t>
            </a:r>
            <a:r>
              <a:rPr lang="en-IN" dirty="0"/>
              <a:t>: Research proves </a:t>
            </a:r>
            <a:r>
              <a:rPr lang="en-IN" b="1" dirty="0"/>
              <a:t>Random Forest Classifiers</a:t>
            </a:r>
            <a:r>
              <a:rPr lang="en-IN" dirty="0"/>
              <a:t> excel at route prediction by mapping erratic local patterns.</a:t>
            </a:r>
          </a:p>
          <a:p>
            <a:r>
              <a:rPr lang="en-IN" b="1" dirty="0"/>
              <a:t>Dynamic Grounding</a:t>
            </a:r>
            <a:r>
              <a:rPr lang="en-IN" dirty="0"/>
              <a:t>: Integrating open climate datasets with local report density yields highly accurate public delay alerts.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CDDA-2D40-BA62-8006-5B7536C1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B930-88B3-44D4-A202-6F4F8CAF65BF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E2F4-4D03-64AC-6C32-461FDD3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EFD5C-1004-C409-41F8-E5034B45A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CA9F-57F0-F61B-39F7-21618B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📊 Google Forms Field Survey Layer</a:t>
            </a:r>
          </a:p>
          <a:p>
            <a:r>
              <a:rPr lang="en-IN" b="1" dirty="0"/>
              <a:t>Digital Data Ingestion</a:t>
            </a:r>
            <a:r>
              <a:rPr lang="en-IN" dirty="0"/>
              <a:t>: Deployed a targeted Google Form to gather empirical feedback from </a:t>
            </a:r>
            <a:r>
              <a:rPr lang="en-IN" dirty="0" err="1"/>
              <a:t>Chintalavalasa</a:t>
            </a:r>
            <a:r>
              <a:rPr lang="en-IN" dirty="0"/>
              <a:t> residents.</a:t>
            </a:r>
          </a:p>
          <a:p>
            <a:r>
              <a:rPr lang="en-IN" b="1" dirty="0"/>
              <a:t>Grievance Baseline</a:t>
            </a:r>
            <a:r>
              <a:rPr lang="en-IN" dirty="0"/>
              <a:t>: Captured real-world data points on garbage accumulation cycles and schedule awareness gaps.</a:t>
            </a:r>
          </a:p>
          <a:p>
            <a:r>
              <a:rPr lang="en-IN" b="1" dirty="0"/>
              <a:t>Database Grounding</a:t>
            </a:r>
            <a:r>
              <a:rPr lang="en-IN" dirty="0"/>
              <a:t>: Processed the Google Form responses to structure our SQLite relational tables and define true village sector parameters.</a:t>
            </a:r>
          </a:p>
          <a:p>
            <a:pPr marL="0" indent="0">
              <a:buNone/>
            </a:pPr>
            <a:r>
              <a:rPr lang="en-IN" b="1" dirty="0"/>
              <a:t>🤖 Technical Machine Learning Inputs</a:t>
            </a:r>
          </a:p>
          <a:p>
            <a:r>
              <a:rPr lang="en-IN" b="1" dirty="0"/>
              <a:t>Temporal Factor</a:t>
            </a:r>
            <a:r>
              <a:rPr lang="en-IN" dirty="0"/>
              <a:t>: Calendar day of the week mapped as an integer to trace historical routing patterns.</a:t>
            </a:r>
          </a:p>
          <a:p>
            <a:r>
              <a:rPr lang="en-IN" b="1" dirty="0"/>
              <a:t>Live Climate Telemetry</a:t>
            </a:r>
            <a:r>
              <a:rPr lang="en-IN" dirty="0"/>
              <a:t>: Real-time data streams pulled from the </a:t>
            </a:r>
            <a:r>
              <a:rPr lang="en-IN" b="1" dirty="0"/>
              <a:t>Open-</a:t>
            </a:r>
            <a:r>
              <a:rPr lang="en-IN" b="1" dirty="0" err="1"/>
              <a:t>Meteo</a:t>
            </a:r>
            <a:r>
              <a:rPr lang="en-IN" b="1" dirty="0"/>
              <a:t> API</a:t>
            </a:r>
            <a:r>
              <a:rPr lang="en-IN" dirty="0"/>
              <a:t> to track monsoon rain indices.</a:t>
            </a:r>
          </a:p>
          <a:p>
            <a:r>
              <a:rPr lang="en-IN" b="1" dirty="0"/>
              <a:t>Complaint Velocity</a:t>
            </a:r>
            <a:r>
              <a:rPr lang="en-IN" dirty="0"/>
              <a:t>: Rolling count of active, unresolved citizen reports in that specific ward over the past 7 days.</a:t>
            </a:r>
          </a:p>
          <a:p>
            <a:r>
              <a:rPr lang="en-IN" b="1" dirty="0"/>
              <a:t>Spatial Feature Mappings</a:t>
            </a:r>
            <a:r>
              <a:rPr lang="en-IN" dirty="0"/>
              <a:t>: Distinct numeric integer identifiers corresponding to the 5 major residential village wards.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7C9E-6959-7DF2-0958-3377A79E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8817-4F34-43C2-AFBB-35605F3F6A14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76AD-1BA9-F95A-15CD-7AD191B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071DB-0521-6C96-24EB-B0E0C1F61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29C4-E906-5C86-8EDD-4C2E1CC8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CD8A-E1BD-594A-43F2-927C69F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E081-F1B4-4E58-B59A-DB5EA8636B00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2E1F-EF2A-2160-FDB2-EBCAAA8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0A72-4D8C-43BA-8FFD-E29248396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30B9E5-F35C-BCB8-F23E-6E5BD3508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04" y="2595716"/>
            <a:ext cx="10729392" cy="31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 System Design(cont.)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DB66-F142-AB58-0A08-67AF99A00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0" indent="0">
              <a:buNone/>
            </a:pPr>
            <a:r>
              <a:rPr lang="en-IN" b="1" dirty="0"/>
              <a:t>📱 Block 1: Citizen Mobile UI</a:t>
            </a:r>
            <a:r>
              <a:rPr lang="en-IN" dirty="0"/>
              <a:t> ──► Captures street location data and streams live phone photo proof.</a:t>
            </a:r>
          </a:p>
          <a:p>
            <a:pPr marL="0" indent="0">
              <a:buNone/>
            </a:pPr>
            <a:r>
              <a:rPr lang="en-IN" b="1" dirty="0"/>
              <a:t>⚙️ Block 2: Flask Web Core</a:t>
            </a:r>
            <a:r>
              <a:rPr lang="en-IN" dirty="0"/>
              <a:t> ──► Handles central server routing, image file streams, and API links.</a:t>
            </a:r>
          </a:p>
          <a:p>
            <a:pPr marL="0" indent="0">
              <a:buNone/>
            </a:pPr>
            <a:r>
              <a:rPr lang="en-IN" b="1" dirty="0"/>
              <a:t>🤖 Block 3A: Random Forest AI</a:t>
            </a:r>
            <a:r>
              <a:rPr lang="en-IN" dirty="0"/>
              <a:t> ──► Reads live Open-</a:t>
            </a:r>
            <a:r>
              <a:rPr lang="en-IN" dirty="0" err="1"/>
              <a:t>Meteo</a:t>
            </a:r>
            <a:r>
              <a:rPr lang="en-IN" dirty="0"/>
              <a:t> weather codes to predict vehicle route delays.</a:t>
            </a:r>
          </a:p>
          <a:p>
            <a:pPr marL="0" indent="0">
              <a:buNone/>
            </a:pPr>
            <a:r>
              <a:rPr lang="en-IN" b="1" dirty="0"/>
              <a:t>🏛️ Block 3B: Panchayat Admin</a:t>
            </a:r>
            <a:r>
              <a:rPr lang="en-IN" dirty="0"/>
              <a:t> ──► Live official dashboard to verify community photo proof and track fleets.</a:t>
            </a:r>
          </a:p>
          <a:p>
            <a:pPr marL="0" indent="0">
              <a:buNone/>
            </a:pPr>
            <a:r>
              <a:rPr lang="en-IN" b="1" dirty="0"/>
              <a:t>🗄️ Block 4: SQLite Database</a:t>
            </a:r>
            <a:r>
              <a:rPr lang="en-IN" dirty="0"/>
              <a:t> ──► Secure relational file system storing village schedules and ticket logs.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0D40-7F04-03A5-2DCE-D25BBBF6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F38D-1EB3-4DB2-A750-823A1A97BFA2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9A0E-E589-F2DF-8882-F3F874F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20BEA-D4F0-01C9-E117-A16C3619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C6ED-3357-EFD8-4B15-44CFEF9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code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b="1" dirty="0"/>
              <a:t>📂 Core System Modules</a:t>
            </a:r>
          </a:p>
          <a:p>
            <a:r>
              <a:rPr lang="en-IN" b="1" dirty="0"/>
              <a:t>Scheduling Module (schedule.html):</a:t>
            </a:r>
            <a:r>
              <a:rPr lang="en-IN" dirty="0"/>
              <a:t> Allows citizens to filter the SQLite database rows by village ward to fetch morning pickup details.</a:t>
            </a:r>
          </a:p>
          <a:p>
            <a:r>
              <a:rPr lang="en-IN" b="1" dirty="0"/>
              <a:t>Grievance Module (report.html):</a:t>
            </a:r>
            <a:r>
              <a:rPr lang="en-IN" dirty="0"/>
              <a:t> Captures multi-part form payloads, filters input data, and streams phone photo uploads to the cloud server disk.</a:t>
            </a:r>
          </a:p>
          <a:p>
            <a:r>
              <a:rPr lang="en-IN" b="1" dirty="0"/>
              <a:t>Panchayat Panel (admin.html):</a:t>
            </a:r>
            <a:r>
              <a:rPr lang="en-IN" dirty="0"/>
              <a:t> Restricts access to a secure administrative workflow workspace for tracking and updating complaint states.</a:t>
            </a:r>
          </a:p>
          <a:p>
            <a:pPr marL="0" indent="0">
              <a:buNone/>
            </a:pPr>
            <a:r>
              <a:rPr lang="en-IN" b="1" dirty="0"/>
              <a:t>🌐 Project Deployment Parameters</a:t>
            </a:r>
          </a:p>
          <a:p>
            <a:r>
              <a:rPr lang="en-IN" b="1" dirty="0"/>
              <a:t>Hugging Face Cloud Repository Link: </a:t>
            </a:r>
            <a:r>
              <a:rPr lang="en-IN" dirty="0"/>
              <a:t>https://hugging face.co/spaces/</a:t>
            </a:r>
            <a:r>
              <a:rPr lang="en-IN" dirty="0" err="1"/>
              <a:t>Jaganmohansmile</a:t>
            </a:r>
            <a:r>
              <a:rPr lang="en-IN" dirty="0"/>
              <a:t>/</a:t>
            </a:r>
            <a:r>
              <a:rPr lang="en-IN" dirty="0" err="1"/>
              <a:t>Smartgarbage</a:t>
            </a:r>
            <a:endParaRPr lang="en-IN" dirty="0"/>
          </a:p>
          <a:p>
            <a:r>
              <a:rPr lang="en-IN" b="1" dirty="0"/>
              <a:t>Production Runtime Target Engine:</a:t>
            </a:r>
            <a:r>
              <a:rPr lang="en-IN" dirty="0"/>
              <a:t> </a:t>
            </a:r>
            <a:r>
              <a:rPr lang="en-IN" dirty="0" err="1"/>
              <a:t>Gunicorn</a:t>
            </a:r>
            <a:r>
              <a:rPr lang="en-IN" dirty="0"/>
              <a:t> WSGI HTTP server containerized over Python 3.12 stack environments.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⚙️ Key Backend Routing Snippet (</a:t>
            </a:r>
            <a:r>
              <a:rPr lang="en-IN" b="1" dirty="0"/>
              <a:t>routes.py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# Fetches data from SQLite and runs the Random Forest AI model</a:t>
            </a:r>
          </a:p>
          <a:p>
            <a:pPr marL="0" indent="0">
              <a:buNone/>
            </a:pPr>
            <a:r>
              <a:rPr lang="en-IN" dirty="0"/>
              <a:t>@main.route('/schedule', methods=['GET', 'POST’])</a:t>
            </a:r>
          </a:p>
          <a:p>
            <a:pPr marL="0" indent="0">
              <a:buNone/>
            </a:pPr>
            <a:r>
              <a:rPr lang="en-IN" dirty="0"/>
              <a:t>def schedule():  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all_schedules</a:t>
            </a:r>
            <a:r>
              <a:rPr lang="en-IN" dirty="0"/>
              <a:t> = </a:t>
            </a:r>
            <a:r>
              <a:rPr lang="en-IN" dirty="0" err="1"/>
              <a:t>Schedule.query.order_by</a:t>
            </a:r>
            <a:r>
              <a:rPr lang="en-IN" dirty="0"/>
              <a:t>(</a:t>
            </a:r>
            <a:r>
              <a:rPr lang="en-IN" dirty="0" err="1"/>
              <a:t>Schedule.ward</a:t>
            </a:r>
            <a:r>
              <a:rPr lang="en-IN" dirty="0"/>
              <a:t>).all()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filtered_schedules</a:t>
            </a:r>
            <a:r>
              <a:rPr lang="en-IN" dirty="0"/>
              <a:t> = []   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ai_prediction</a:t>
            </a:r>
            <a:r>
              <a:rPr lang="en-IN" dirty="0"/>
              <a:t> = None       </a:t>
            </a:r>
          </a:p>
          <a:p>
            <a:pPr marL="0" indent="0">
              <a:buNone/>
            </a:pPr>
            <a:r>
              <a:rPr lang="en-IN" dirty="0"/>
              <a:t>   if </a:t>
            </a:r>
            <a:r>
              <a:rPr lang="en-IN" dirty="0" err="1"/>
              <a:t>request.method</a:t>
            </a:r>
            <a:r>
              <a:rPr lang="en-IN" dirty="0"/>
              <a:t> == 'POST':       </a:t>
            </a:r>
          </a:p>
          <a:p>
            <a:pPr marL="0" indent="0">
              <a:buNone/>
            </a:pPr>
            <a:r>
              <a:rPr lang="en-IN" dirty="0"/>
              <a:t>       ward = </a:t>
            </a:r>
            <a:r>
              <a:rPr lang="en-IN" dirty="0" err="1"/>
              <a:t>request.form.get</a:t>
            </a:r>
            <a:r>
              <a:rPr lang="en-IN" dirty="0"/>
              <a:t>('ward')      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filtered_schedules</a:t>
            </a:r>
            <a:r>
              <a:rPr lang="en-IN" dirty="0"/>
              <a:t> = </a:t>
            </a:r>
            <a:r>
              <a:rPr lang="en-IN" dirty="0" err="1"/>
              <a:t>Schedule.query.filter_by</a:t>
            </a:r>
            <a:r>
              <a:rPr lang="en-IN" dirty="0"/>
              <a:t>(ward=ward).all()  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ai_prediction</a:t>
            </a:r>
            <a:r>
              <a:rPr lang="en-IN" dirty="0"/>
              <a:t> = </a:t>
            </a:r>
            <a:r>
              <a:rPr lang="en-IN" dirty="0" err="1"/>
              <a:t>predict_miss</a:t>
            </a:r>
            <a:r>
              <a:rPr lang="en-IN" dirty="0"/>
              <a:t>(ward)  # AI Model Trigger          </a:t>
            </a:r>
          </a:p>
          <a:p>
            <a:pPr marL="0" indent="0">
              <a:buNone/>
            </a:pPr>
            <a:r>
              <a:rPr lang="en-IN" dirty="0"/>
              <a:t>   return </a:t>
            </a:r>
            <a:r>
              <a:rPr lang="en-IN" dirty="0" err="1"/>
              <a:t>render_template</a:t>
            </a:r>
            <a:r>
              <a:rPr lang="en-IN" dirty="0"/>
              <a:t>('schedule.html', schedules=</a:t>
            </a:r>
            <a:r>
              <a:rPr lang="en-IN" dirty="0" err="1"/>
              <a:t>filtered_schedules</a:t>
            </a:r>
            <a:r>
              <a:rPr lang="en-IN" dirty="0"/>
              <a:t>, </a:t>
            </a:r>
            <a:r>
              <a:rPr lang="en-IN" dirty="0" err="1"/>
              <a:t>all_schedules</a:t>
            </a:r>
            <a:r>
              <a:rPr lang="en-IN" dirty="0"/>
              <a:t>=</a:t>
            </a:r>
            <a:r>
              <a:rPr lang="en-IN" dirty="0" err="1"/>
              <a:t>all_schedules</a:t>
            </a:r>
            <a:r>
              <a:rPr lang="en-IN" dirty="0"/>
              <a:t>, prediction=</a:t>
            </a:r>
            <a:r>
              <a:rPr lang="en-IN" dirty="0" err="1"/>
              <a:t>ai_prediction</a:t>
            </a:r>
            <a:r>
              <a:rPr lang="en-IN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C39-8579-8CCB-38A6-30FF6BC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EC51-D8FE-429D-B538-6D42DB567EFC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8C94-0F26-D10A-70D2-DF88E6B3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C40E3-0616-FC5B-C382-57C8E7C12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(Full) / Screenshots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FC30A-3747-9DE3-EDF5-8A5E20824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55" y="1673067"/>
            <a:ext cx="3744116" cy="16710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F299-9D72-47F9-8A7A-EFB8E8F8EF9B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6694DA-9A90-5456-B77A-AEF49D46D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301" y="1690688"/>
            <a:ext cx="3612911" cy="1635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7D0F88-2485-EEDC-A6D2-646E3BA40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19" y="1617239"/>
            <a:ext cx="3923072" cy="1743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55329F-F3A7-8DB5-AEB7-FD65CB33E8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2" y="4014242"/>
            <a:ext cx="3685729" cy="16719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2DE25D-7B6D-9F93-1DC4-8BFDD8BC94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381" y="4014242"/>
            <a:ext cx="3824749" cy="17327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6C4D47-465D-3DB9-6FE3-AC0C8515B4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20" y="3969427"/>
            <a:ext cx="3923071" cy="176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307A-6D64-2169-AE94-D06854D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⚙️ Technical Impact (Software &amp; Data Engineering)</a:t>
            </a:r>
          </a:p>
          <a:p>
            <a:r>
              <a:rPr lang="en-IN" b="1" dirty="0"/>
              <a:t>High Efficiency Stack</a:t>
            </a:r>
            <a:r>
              <a:rPr lang="en-IN" dirty="0"/>
              <a:t>: Replaces heavy smart-city hardware infrastructure with a lightweight, low-cost Python/Flask web utility.</a:t>
            </a:r>
          </a:p>
          <a:p>
            <a:r>
              <a:rPr lang="en-IN" b="1" dirty="0"/>
              <a:t>Predictive Capability</a:t>
            </a:r>
            <a:r>
              <a:rPr lang="en-IN" dirty="0"/>
              <a:t>: Proves that ensemble models like </a:t>
            </a:r>
            <a:r>
              <a:rPr lang="en-IN" b="1" dirty="0"/>
              <a:t>Random Forest</a:t>
            </a:r>
            <a:r>
              <a:rPr lang="en-IN" dirty="0"/>
              <a:t> can compute accurate route delay warnings using live API telemetry.</a:t>
            </a:r>
          </a:p>
          <a:p>
            <a:r>
              <a:rPr lang="en-IN" b="1" dirty="0"/>
              <a:t>Centralized Data Hub</a:t>
            </a:r>
            <a:r>
              <a:rPr lang="en-IN" dirty="0"/>
              <a:t>: Migrates manual village paper logs into a secure, searchable SQLite relational data model.</a:t>
            </a:r>
          </a:p>
          <a:p>
            <a:pPr marL="0" indent="0">
              <a:buNone/>
            </a:pPr>
            <a:r>
              <a:rPr lang="en-IN" b="1" dirty="0"/>
              <a:t>👥 Social &amp; Economic Impact (</a:t>
            </a:r>
            <a:r>
              <a:rPr lang="en-IN" b="1" dirty="0" err="1"/>
              <a:t>Chintalavalasa</a:t>
            </a:r>
            <a:r>
              <a:rPr lang="en-IN" b="1" dirty="0"/>
              <a:t> Layout)</a:t>
            </a:r>
          </a:p>
          <a:p>
            <a:r>
              <a:rPr lang="en-IN" b="1" dirty="0"/>
              <a:t>Empowered Community</a:t>
            </a:r>
            <a:r>
              <a:rPr lang="en-IN" dirty="0"/>
              <a:t>: Converts passive village residents into active participants in keeping their streets clean.</a:t>
            </a:r>
          </a:p>
          <a:p>
            <a:r>
              <a:rPr lang="en-IN" b="1" dirty="0"/>
              <a:t>Administrative Bridge</a:t>
            </a:r>
            <a:r>
              <a:rPr lang="en-IN" dirty="0"/>
              <a:t>: Connects citizens directly to the </a:t>
            </a:r>
            <a:r>
              <a:rPr lang="en-IN" b="1" dirty="0"/>
              <a:t>Gram Panchayat Desk</a:t>
            </a:r>
            <a:r>
              <a:rPr lang="en-IN" dirty="0"/>
              <a:t>, eliminating traditional communication delays.</a:t>
            </a:r>
          </a:p>
          <a:p>
            <a:r>
              <a:rPr lang="en-IN" b="1" dirty="0"/>
              <a:t>Public Health Shield</a:t>
            </a:r>
            <a:r>
              <a:rPr lang="en-IN" dirty="0"/>
              <a:t>: Timely waste removal reduces vector breeding grounds, protecting citizens from dengue and typhoid.</a:t>
            </a:r>
          </a:p>
          <a:p>
            <a:r>
              <a:rPr lang="en-IN" b="1" dirty="0"/>
              <a:t>Resource Optimization</a:t>
            </a:r>
            <a:r>
              <a:rPr lang="en-IN" dirty="0"/>
              <a:t>: Helps officials deploy tractors only to high-complaint areas, saving vehicle fuel and public money.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9FF7-21AD-45B9-11C8-B23CD9E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1F96-71CD-4CEB-A453-AFC903363AB7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FE67-A70E-70E3-3F46-A248886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CE34-F113-A962-A26F-C5CFD5FF5D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5A-F78E-0E9D-1B8F-9ED5228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⚙️ Data Engineering &amp; Model Constraints</a:t>
            </a:r>
          </a:p>
          <a:p>
            <a:r>
              <a:rPr lang="en-IN" b="1" dirty="0"/>
              <a:t>Imbalanced Training Inputs</a:t>
            </a:r>
            <a:r>
              <a:rPr lang="en-IN" dirty="0"/>
              <a:t>: Google Forms field datasets initially lacked historical route delay rows, requiring synthesized feature balancing.</a:t>
            </a:r>
          </a:p>
          <a:p>
            <a:r>
              <a:rPr lang="en-IN" b="1" dirty="0"/>
              <a:t>API Ingestion Mismatches</a:t>
            </a:r>
            <a:r>
              <a:rPr lang="en-IN" dirty="0"/>
              <a:t>: Resolved data stream syntax conflicts when parsing external live JSON fields from the weather API.</a:t>
            </a:r>
          </a:p>
          <a:p>
            <a:r>
              <a:rPr lang="en-IN" b="1" dirty="0"/>
              <a:t>Non-Stable Hashing Bugs</a:t>
            </a:r>
            <a:r>
              <a:rPr lang="en-IN" dirty="0"/>
              <a:t>: Replaced Python's native string hashing function with a secure, stable </a:t>
            </a:r>
            <a:r>
              <a:rPr lang="en-IN" b="1" dirty="0"/>
              <a:t>MD5 digest algorithm</a:t>
            </a:r>
            <a:r>
              <a:rPr lang="en-IN" dirty="0"/>
              <a:t> to maintain unique ward row indexes.</a:t>
            </a:r>
          </a:p>
          <a:p>
            <a:pPr marL="0" indent="0">
              <a:buNone/>
            </a:pPr>
            <a:r>
              <a:rPr lang="en-IN" b="1" dirty="0"/>
              <a:t>🌐 Cloud Storage &amp; Deployment Blockages</a:t>
            </a:r>
          </a:p>
          <a:p>
            <a:r>
              <a:rPr lang="en-IN" b="1" dirty="0"/>
              <a:t>Volatile File Disks</a:t>
            </a:r>
            <a:r>
              <a:rPr lang="en-IN" dirty="0"/>
              <a:t>: Overcame Hugging Face container file resets by routing SQLite files and photo uploads to secure volume directories.</a:t>
            </a:r>
          </a:p>
          <a:p>
            <a:r>
              <a:rPr lang="en-IN" b="1" dirty="0"/>
              <a:t>Folder Hierarchy Errors</a:t>
            </a:r>
            <a:r>
              <a:rPr lang="en-IN" dirty="0"/>
              <a:t>: Cleaned up relative import scripts to stop backend route crashes during production build phases.</a:t>
            </a:r>
          </a:p>
          <a:p>
            <a:r>
              <a:rPr lang="en-IN" b="1" dirty="0"/>
              <a:t>Directory Path Normalization</a:t>
            </a:r>
            <a:r>
              <a:rPr lang="en-IN" dirty="0"/>
              <a:t>: Adjusted Flask static configurations dynamically to support asset loading across local and cloud environments.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DEE8-2712-97F8-0AA0-D407B46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BF22-2CB2-4164-AF8B-6A4D1059DC13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46F4-1131-9BC1-6D0A-6F9F279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C8C2-B765-3F27-69DF-415556C21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79-58CF-5340-6358-31F2F2D1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err="1"/>
              <a:t>SmartGarbage</a:t>
            </a:r>
            <a:r>
              <a:rPr lang="en-IN" dirty="0"/>
              <a:t> bridges the communication gap between citizens and municipal authorities in Hyderabad. By replacing unpredictable routines with a reliable web platform, the system accomplishes three vital goals:</a:t>
            </a:r>
          </a:p>
          <a:p>
            <a:r>
              <a:rPr lang="en-IN" b="1" dirty="0"/>
              <a:t>Empowers Communities:</a:t>
            </a:r>
            <a:r>
              <a:rPr lang="en-IN" dirty="0"/>
              <a:t> Residents gain total transparency over schedules, eliminating skipped collection guessing games.</a:t>
            </a:r>
          </a:p>
          <a:p>
            <a:r>
              <a:rPr lang="en-IN" b="1" dirty="0"/>
              <a:t>Ensures Accountability:</a:t>
            </a:r>
            <a:r>
              <a:rPr lang="en-IN" dirty="0"/>
              <a:t> The direct dashboard closes the loop on issues, turning citizen complaints into trackable, actionable tasks for municipal teams.</a:t>
            </a:r>
          </a:p>
          <a:p>
            <a:r>
              <a:rPr lang="en-IN" b="1" dirty="0"/>
              <a:t>Drives Proactive Management:</a:t>
            </a:r>
            <a:r>
              <a:rPr lang="en-IN" dirty="0"/>
              <a:t> By integrating a Random Forest Machine Learning model, the system evolves from basic tracking into a smart tool that anticipates delays before they lead to public health hazards.</a:t>
            </a:r>
          </a:p>
          <a:p>
            <a:r>
              <a:rPr lang="en-IN" dirty="0"/>
              <a:t>Ultimately, this project transforms waste management from a daily </a:t>
            </a:r>
            <a:r>
              <a:rPr lang="en-IN" dirty="0" err="1"/>
              <a:t>neighborhood</a:t>
            </a:r>
            <a:r>
              <a:rPr lang="en-IN" dirty="0"/>
              <a:t> frustration into an organized, data-driven service—ensuring a cleaner, healthier, and smarter urban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CB72-4075-D8FE-FA30-61E1E501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97835-E227-4A81-8A01-A516A9EB8CD9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ABC5-6C65-1409-EB69-E2FAC16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F3026-24E1-9526-6935-DA510D74B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DF7F-070E-7FCE-AA62-C1973947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To scale </a:t>
            </a:r>
            <a:r>
              <a:rPr lang="en-IN" b="1" dirty="0" err="1"/>
              <a:t>SmartGarbage</a:t>
            </a:r>
            <a:r>
              <a:rPr lang="en-IN" dirty="0"/>
              <a:t> from a local prototype into a robust, city-wide platform, the following advancements are planned:</a:t>
            </a:r>
          </a:p>
          <a:p>
            <a:r>
              <a:rPr lang="en-IN" b="1" dirty="0"/>
              <a:t>IoT &amp; Live GPS Tracking</a:t>
            </a:r>
            <a:endParaRPr lang="en-IN" dirty="0"/>
          </a:p>
          <a:p>
            <a:pPr lvl="1"/>
            <a:r>
              <a:rPr lang="en-IN" dirty="0"/>
              <a:t>Install GPS hardware on municipal vehicles.</a:t>
            </a:r>
          </a:p>
          <a:p>
            <a:pPr lvl="1"/>
            <a:r>
              <a:rPr lang="en-IN" dirty="0"/>
              <a:t>Provide residents with real-time truck tracking on a live map interface.</a:t>
            </a:r>
          </a:p>
          <a:p>
            <a:r>
              <a:rPr lang="en-IN" b="1" dirty="0"/>
              <a:t>Automated Citizen Alerts</a:t>
            </a:r>
            <a:endParaRPr lang="en-IN" dirty="0"/>
          </a:p>
          <a:p>
            <a:pPr lvl="1"/>
            <a:r>
              <a:rPr lang="en-IN" dirty="0"/>
              <a:t>Integrate WhatsApp and SMS notification systems.</a:t>
            </a:r>
          </a:p>
          <a:p>
            <a:pPr lvl="1"/>
            <a:r>
              <a:rPr lang="en-IN" dirty="0"/>
              <a:t>Send instant pings when a vehicle enters a lane or a delay is predicted.</a:t>
            </a:r>
          </a:p>
          <a:p>
            <a:r>
              <a:rPr lang="en-IN" b="1" dirty="0"/>
              <a:t>Scalable Cloud Infrastructure</a:t>
            </a:r>
            <a:endParaRPr lang="en-IN" dirty="0"/>
          </a:p>
          <a:p>
            <a:pPr lvl="1"/>
            <a:r>
              <a:rPr lang="en-IN" dirty="0"/>
              <a:t>Migrate the local SQLite database to a cloud system like PostgreSQL.</a:t>
            </a:r>
          </a:p>
          <a:p>
            <a:pPr lvl="1"/>
            <a:r>
              <a:rPr lang="en-IN" dirty="0"/>
              <a:t>Ensure permanent data storage and smooth performance as user numbers grow.</a:t>
            </a:r>
          </a:p>
          <a:p>
            <a:r>
              <a:rPr lang="en-IN" b="1" dirty="0"/>
              <a:t>Advanced AI Routing</a:t>
            </a:r>
            <a:endParaRPr lang="en-IN" dirty="0"/>
          </a:p>
          <a:p>
            <a:pPr lvl="1"/>
            <a:r>
              <a:rPr lang="en-IN" dirty="0"/>
              <a:t>Train the Random Forest model on historical traffic and fuel data.</a:t>
            </a:r>
          </a:p>
          <a:p>
            <a:pPr lvl="1"/>
            <a:r>
              <a:rPr lang="en-IN" dirty="0"/>
              <a:t>Optimize vehicle routes dynamically to save municipal time and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8B5E-4483-07DB-81C8-839D380A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EFD1-43BA-46A2-BC19-C8E28D2B8CA2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094-4C4F-2666-5C5E-3A8653E9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29E75-110B-7CF9-13A1-2358F4918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DFA1-988C-7F19-3A28-BB7F45AB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Municipal Frameworks &amp; Guidelines</a:t>
            </a:r>
            <a:endParaRPr lang="en-IN" dirty="0"/>
          </a:p>
          <a:p>
            <a:pPr lvl="1"/>
            <a:r>
              <a:rPr lang="en-IN" dirty="0"/>
              <a:t>Greater Hyderabad Municipal Corporation (GHMC) Solid Waste Management Bylaws.</a:t>
            </a:r>
          </a:p>
          <a:p>
            <a:pPr lvl="1"/>
            <a:r>
              <a:rPr lang="en-IN" dirty="0"/>
              <a:t>Swachh Bharat Mission (Urban) Guidelines, Ministry of Housing and Urban Affairs, Government of India.</a:t>
            </a:r>
          </a:p>
          <a:p>
            <a:r>
              <a:rPr lang="en-IN" b="1" dirty="0"/>
              <a:t>Web Development &amp; Backend Architecture</a:t>
            </a:r>
            <a:endParaRPr lang="en-IN" dirty="0"/>
          </a:p>
          <a:p>
            <a:pPr lvl="1"/>
            <a:r>
              <a:rPr lang="en-IN" dirty="0"/>
              <a:t>Flask Documentation: </a:t>
            </a:r>
            <a:r>
              <a:rPr lang="en-IN" i="1" dirty="0"/>
              <a:t>Development and Routing with Python-based Web Frameworks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SQLite Documentation: </a:t>
            </a:r>
            <a:r>
              <a:rPr lang="en-IN" i="1" dirty="0"/>
              <a:t>Lightweight Relational Database Design for Local Storage</a:t>
            </a:r>
            <a:r>
              <a:rPr lang="en-IN" dirty="0"/>
              <a:t>.</a:t>
            </a:r>
          </a:p>
          <a:p>
            <a:r>
              <a:rPr lang="en-IN" b="1" dirty="0"/>
              <a:t>Machine Learning &amp; Predictive </a:t>
            </a:r>
            <a:r>
              <a:rPr lang="en-IN" b="1" dirty="0" err="1"/>
              <a:t>Modeling</a:t>
            </a:r>
            <a:endParaRPr lang="en-IN" dirty="0"/>
          </a:p>
          <a:p>
            <a:pPr lvl="1"/>
            <a:r>
              <a:rPr lang="en-IN" dirty="0"/>
              <a:t>Scikit-Learn Documentation: </a:t>
            </a:r>
            <a:r>
              <a:rPr lang="en-IN" i="1" dirty="0"/>
              <a:t>Ensemble Methods — Training and Tuning Random Forest Classifiers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Leo </a:t>
            </a:r>
            <a:r>
              <a:rPr lang="en-IN" dirty="0" err="1"/>
              <a:t>Breiman</a:t>
            </a:r>
            <a:r>
              <a:rPr lang="en-IN" dirty="0"/>
              <a:t> (2001): </a:t>
            </a:r>
            <a:r>
              <a:rPr lang="en-IN" i="1" dirty="0"/>
              <a:t>Random Forests</a:t>
            </a:r>
            <a:r>
              <a:rPr lang="en-IN" dirty="0"/>
              <a:t>, Machine Learning Journal.</a:t>
            </a:r>
          </a:p>
          <a:p>
            <a:r>
              <a:rPr lang="en-IN" b="1" dirty="0"/>
              <a:t>Public Health &amp; Environmental Studies</a:t>
            </a:r>
            <a:endParaRPr lang="en-IN" dirty="0"/>
          </a:p>
          <a:p>
            <a:pPr lvl="1"/>
            <a:r>
              <a:rPr lang="en-IN" dirty="0"/>
              <a:t>World Health Organization (WHO) Reports on Vector-Borne Diseases: </a:t>
            </a:r>
            <a:r>
              <a:rPr lang="en-IN" i="1" dirty="0"/>
              <a:t>The Link Between Unmanaged Urban Waste and Dengue/Cholera Outbreaks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3FE8-0932-BE50-70F2-DCCFB99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E5EE-CD67-42A0-9A9D-04CE4D439231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9A61-9870-D7FA-34D9-C5E639AC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3E415-325C-FD52-3C9D-49EB0FD08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C50-6FD8-DD5F-6FF5-BB9DD6B7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Queries/ Questions? </a:t>
            </a:r>
          </a:p>
          <a:p>
            <a:r>
              <a:rPr lang="en-IN" b="1" dirty="0"/>
              <a:t>Open Floor for Discussion</a:t>
            </a:r>
          </a:p>
          <a:p>
            <a:r>
              <a:rPr lang="en-IN" dirty="0"/>
              <a:t>Thank you for your time and feedback.</a:t>
            </a:r>
          </a:p>
          <a:p>
            <a:r>
              <a:rPr lang="en-IN" dirty="0"/>
              <a:t>Welcoming all queries, suggestions, and technical questions from the panel.</a:t>
            </a:r>
          </a:p>
          <a:p>
            <a:pPr marL="0" indent="0" algn="ctr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389F3-38E7-E345-6C1B-55E8D0E4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3B29-5F07-416A-A1AF-5804B2A93342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42DD-AAA8-D382-7575-AA032AC1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474F-C52C-F540-9F28-9B6115872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2061</Words>
  <Application>Microsoft Office PowerPoint</Application>
  <PresentationFormat>Widescreen</PresentationFormat>
  <Paragraphs>209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Project  Branch: CSE-Artificial Intelligence &amp; Machine Learning Department: Data Engineering  Semester: V    Section: A          Regulation: R24             Course Code: R24MSCSP001</dc:title>
  <dc:creator>Sushma Vatekar</dc:creator>
  <cp:lastModifiedBy>Chandini Mopada</cp:lastModifiedBy>
  <cp:revision>7</cp:revision>
  <dcterms:created xsi:type="dcterms:W3CDTF">2025-09-22T15:29:51Z</dcterms:created>
  <dcterms:modified xsi:type="dcterms:W3CDTF">2026-07-03T18:10:12Z</dcterms:modified>
</cp:coreProperties>
</file>