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74" r:id="rId26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22E713D-B38C-44B3-AA1B-BF7E4901F54A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C77DDF-0A27-67B6-5BDF-F285B4C717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2C14-519F-1665-5873-A72F25564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B00D6-E1FF-4B73-A053-E585B1FBE90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4DCC8-0A82-FBB1-C5C8-0A3B68A7E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E76C3-C0CF-299E-70A1-6269DB6591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F4E45-0858-4043-A964-1C66277AD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35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4C36-70B1-45F6-9FDE-F1D24E79F56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F6A76-F437-4B4B-8482-7210935BA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623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F6A76-F437-4B4B-8482-7210935BA7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9042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CCCB-E175-57DF-24EA-FD7B125D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CE3B5-1C30-5CEF-2519-0F3E17055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F157-475F-2413-9A18-8C99B0F3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5323-E29B-4B70-A94E-1594BD5CBD7E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20D2-DC7F-B2F2-0EA2-DA548AED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35AC5-403F-A47E-E941-5EEB21D4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CD6A-AF0F-7AD6-7A7C-AE6A86E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BD31-11F1-A76F-4F35-D6809691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68E4-CF8E-21D0-0E03-53396B11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94E78-88E1-46A4-AF1B-828B5E375FA2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F465C-6C94-5A19-8095-1392228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AA8D-3739-E96E-0A3F-1FFC9B3F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0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5A6B-F1C1-9EB4-A060-5B25A0F3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61C07-B202-8596-07A9-22822C9D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4F265-5CE9-9191-6286-2C9AE5F0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9717-40FC-4C73-B8FA-A58DAB8A6201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E1B0-75C0-03D7-9824-CA075284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9738F-0524-AB68-D6DB-3A4E3B30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7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F7E3-61D6-8491-1328-714F5970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3BCC-F5B5-90E7-1B9B-4B86B2286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F7E7-5B74-070A-47CE-41CB8012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22ED-FA86-4920-5DDD-EF5BAB07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1CF7-758A-44DA-BCBF-28E94B183FAA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C7351-93DD-02B8-418D-4758BB52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A715-8247-0449-9A75-090C2AC0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7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0879-59A2-9993-5923-31956486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4AD61-0E56-D989-0F6E-E2475CED0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878A4-D7B6-8C42-F70F-B46C102B4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0B250-122E-ED60-C1CE-B01FF6F6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70AD3-919D-BA8B-B107-88B0AE5EC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76A1F-60B9-95CE-E92F-BE7C1FBC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9FDD-8BD6-49CA-B47B-D82B5753DDDF}" type="datetime1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5E6BD-7F75-F160-B5AE-BC0CB39A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4F82A-2F5F-AFF5-B7E5-195A9F72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01F4-BED2-1AAD-97E2-15FD1168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9C3BD-B4F1-048A-3697-B165EAC0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71C4-7117-442F-820E-CC01BC240CFF}" type="datetime1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3806D-6534-3CB8-9569-E2F8462C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5F470-2CEF-BAFE-7D89-13162D55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5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61FC1-61B2-0BEC-36EF-3DE62DB9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54E5A-9C4D-4470-846F-ADA8C588B6A9}" type="datetime1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6DB32-5E56-9AF3-6840-1B34E91C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3A9D-2826-6D71-05BE-6B8D4570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E002-737C-263E-A4E0-BF90604D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99A4-C8E8-FC9F-25B9-D03380211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CDDF6-A347-9627-45DD-1B0CAA19C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2D6B-F737-2EBE-5E8C-0BB78FDF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F083-6D5B-4B0A-A053-F75A84FB0730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5B18-D373-F253-5581-CF1C04E3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5C7CE-A6DD-CD7E-7AF4-719C1B64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0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CCD2-0CAD-E143-4AED-BF6232E4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0C940-6F35-3FA0-09D1-81974FB73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33F76-869F-7C98-8621-02EAAF7F9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F9FDD-7956-7A3E-DF1B-E917B4C3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14738-DEA0-4125-998D-ECD817967A89}" type="datetime1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8230D-B290-ED5F-5C68-CE723BCC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775D-FAF7-3543-22DF-BD7C5A37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0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5FB7-6D0C-1E16-0A66-E68B9D2C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EE2B5-8C5E-58D4-A3F9-3A303187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91197-E419-0573-70A8-DE688D37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1ED1-E35F-4D19-85BD-C5B2E1E72F64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CDE99-3310-5C8E-4F2A-AC0ACD95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8FA3-7C23-3214-D38F-392AD8DF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8C7CF-4623-DEC8-14AE-619295942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1983F-2C6C-FD2E-187E-44A0B441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6E63-6CAC-E9E4-BF3F-C256D793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5591-7348-4410-8FD7-DA388D80B05C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C139-7A5D-5405-E52E-049003BE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44655-C0E1-8A45-9962-DEB5CF9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279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3B46B-1610-0CE6-7155-D123E374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927F-6A1D-B152-1C11-14603B53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B9BDF-D021-93E2-48DC-E3FB251E0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E5703-3C09-48F0-BC15-A8F80091436C}" type="datetime1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4683-C2DB-CF7A-5C79-0094EA7CF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7840-6CAF-B6FA-3558-8E7408C33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22.jpg"/><Relationship Id="rId17" Type="http://schemas.openxmlformats.org/officeDocument/2006/relationships/image" Target="../media/image23.jpg"/><Relationship Id="rId18" Type="http://schemas.openxmlformats.org/officeDocument/2006/relationships/image" Target="../media/image24.jpg"/><Relationship Id="rId19" Type="http://schemas.openxmlformats.org/officeDocument/2006/relationships/image" Target="../media/image25.jpg"/><Relationship Id="rId20" Type="http://schemas.openxmlformats.org/officeDocument/2006/relationships/image" Target="../media/image26.jpg"/><Relationship Id="rId21" Type="http://schemas.openxmlformats.org/officeDocument/2006/relationships/image" Target="../media/image2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BAEA-A6E1-3B7C-66B0-6AA9B4168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147" y="1087567"/>
            <a:ext cx="9518554" cy="814592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CSE (Data Science)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Data Engineering</a:t>
            </a:r>
          </a:p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V    Section: A    Regulation: R24    Course Code: R24MSCSP001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7393A-5152-2239-E68B-758F10844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47" y="1982521"/>
            <a:ext cx="9144000" cy="851288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 SmartGarbage Chintalavalasa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- Community Waste Management Portal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0522D6-D17F-C571-6E54-DC1EB5D4F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835658"/>
              </p:ext>
            </p:extLst>
          </p:nvPr>
        </p:nvGraphicFramePr>
        <p:xfrm>
          <a:off x="3123336" y="2841523"/>
          <a:ext cx="6246761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4">
                  <a:extLst>
                    <a:ext uri="{9D8B030D-6E8A-4147-A177-3AD203B41FA5}">
                      <a16:colId xmlns:a16="http://schemas.microsoft.com/office/drawing/2014/main" val="2978184859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193938237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017919128"/>
                    </a:ext>
                  </a:extLst>
                </a:gridCol>
              </a:tblGrid>
              <a:tr h="28054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 Number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8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M.Jaganmohan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L.Reshma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44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P.Narashimha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Murthy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2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4.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24331A4426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K.Augustin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Paul Kumar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72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39C9FE-9A55-D878-4113-BB45C8E42B25}"/>
              </a:ext>
            </a:extLst>
          </p:cNvPr>
          <p:cNvSpPr txBox="1"/>
          <p:nvPr/>
        </p:nvSpPr>
        <p:spPr>
          <a:xfrm>
            <a:off x="666564" y="5004620"/>
            <a:ext cx="47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IN" dirty="0" err="1"/>
              <a:t>Mrs.S.Nikhila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</a:t>
            </a:r>
            <a:r>
              <a:rPr lang="en-IN" dirty="0"/>
              <a:t>Assistant Professor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25BDB-B544-A468-80FA-5C328DABA918}"/>
              </a:ext>
            </a:extLst>
          </p:cNvPr>
          <p:cNvSpPr txBox="1"/>
          <p:nvPr/>
        </p:nvSpPr>
        <p:spPr>
          <a:xfrm>
            <a:off x="666564" y="5770433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228F4-F1C6-996C-1333-E77944D0112F}"/>
              </a:ext>
            </a:extLst>
          </p:cNvPr>
          <p:cNvSpPr txBox="1"/>
          <p:nvPr/>
        </p:nvSpPr>
        <p:spPr>
          <a:xfrm>
            <a:off x="7441620" y="5767836"/>
            <a:ext cx="3856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V. Jyothi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Associate Professor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81387-CAA0-B664-E5E7-652103F74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90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0921-4932-359B-99DF-4AA4E8AA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6446520" cy="32918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943600" cy="3017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>SmartGarbage connects ~12,000 residents of Chintalavalasa Gram Panchayat (5 wards) with their Panchayat through one accountable digital channel.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>Residents get street-level schedules, complaint tracking with signed links, WhatsApp reporting, PAYT billing and Green Points rewards.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0">
                <a:solidFill>
                  <a:srgbClr val="1F2A24"/>
                </a:solidFill>
                <a:latin typeface="Calibri"/>
              </a:rPr>
              <a:t>An HMAC-secured IoT telemetry pipeline feeds scikit-learn models for bin overflow ETA, anomaly alerts and route priority - with every action audit-logged.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Flask 3 | PWA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4800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PostgreSQL | 23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8006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scikit-learn 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800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2A24"/>
                </a:solidFill>
                <a:latin typeface="Calibri"/>
              </a:rPr>
              <a:t>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34440"/>
            <a:ext cx="2057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1B5E3B"/>
                </a:solidFill>
                <a:latin typeface="Calibri"/>
              </a:rPr>
              <a:t>5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wards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234440"/>
            <a:ext cx="2057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1B5E3B"/>
                </a:solidFill>
                <a:latin typeface="Calibri"/>
              </a:rPr>
              <a:t>3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user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834640"/>
            <a:ext cx="2057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1B5E3B"/>
                </a:solidFill>
                <a:latin typeface="Calibri"/>
              </a:rPr>
              <a:t>359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tests green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2834640"/>
            <a:ext cx="2057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1B5E3B"/>
                </a:solidFill>
                <a:latin typeface="Calibri"/>
              </a:rPr>
              <a:t>Rs 0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running cost</a:t>
            </a:r>
          </a:p>
        </p:txBody>
      </p:sp>
      <p:pic>
        <p:nvPicPr>
          <p:cNvPr id="13" name="Picture 12" descr="sg_home_1280_4.70x1.8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26280"/>
            <a:ext cx="4297680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6263640"/>
            <a:ext cx="4297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Live portal - smartgarbage.onrender.com</a:t>
            </a:r>
          </a:p>
        </p:txBody>
      </p:sp>
    </p:spTree>
    <p:extLst>
      <p:ext uri="{BB962C8B-B14F-4D97-AF65-F5344CB8AC3E}">
        <p14:creationId xmlns:p14="http://schemas.microsoft.com/office/powerpoint/2010/main" val="46042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A163-6249-C153-BF1D-0EAD5B5D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26464"/>
            <a:ext cx="566928" cy="566928"/>
          </a:xfrm>
          <a:prstGeom prst="ellipse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1371600"/>
            <a:ext cx="5870448" cy="8412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Study area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Chintalavalasa Gram Panchayat, Denkada Mandal, Vizianagaram district, AP - 5 wards, ~12,000 residents.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660904"/>
            <a:ext cx="566928" cy="566928"/>
          </a:xfrm>
          <a:prstGeom prst="ellipse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606040"/>
            <a:ext cx="5870448" cy="8412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Stakeholders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Residents | sanitation workers (CV-01...05) | Panchayat admins | state reviewers.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3840480"/>
            <a:ext cx="5870448" cy="8412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The gap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No digital channel: paper notices, word-of-mouth complaints, zero data for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280160"/>
            <a:ext cx="4114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The five wards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356616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1 - MVGR College Area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2 - Chintalavalasa Junction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3 - RTC Colony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4 - Ramalayam Street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 5 - Sai Nagar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29768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~12,000 residents | 2 pickups per ward per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623560"/>
            <a:ext cx="4114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Field-surveyed boundaries &amp; schedules (seed data)</a:t>
            </a:r>
          </a:p>
        </p:txBody>
      </p:sp>
    </p:spTree>
    <p:extLst>
      <p:ext uri="{BB962C8B-B14F-4D97-AF65-F5344CB8AC3E}">
        <p14:creationId xmlns:p14="http://schemas.microsoft.com/office/powerpoint/2010/main" val="53244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F1CE-E15D-F045-5F27-8386F788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755648"/>
            <a:ext cx="658368" cy="65836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B5E3B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536192"/>
            <a:ext cx="42062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Info blackout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938528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No digital schedule - residents miss pickups or wait by the road.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37160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79" y="1755648"/>
            <a:ext cx="658368" cy="65836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B5E3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59" y="1536192"/>
            <a:ext cx="42062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Complaints vanish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59" y="1938528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Word-of-mouth reporting; nothing is tracked, nothing is proved.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447288"/>
            <a:ext cx="658368" cy="65836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B5E3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3227832"/>
            <a:ext cx="42062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Segregation unproven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630168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Voluntary 4-stream sorting with no incentive and no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306324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79" y="3447288"/>
            <a:ext cx="658368" cy="65836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B5E3B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59" y="3227832"/>
            <a:ext cx="42062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Reactive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3630168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Fixed routes ignore real bin fill; overflows discovered late.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5A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Paper notices</a:t>
            </a:r>
          </a:p>
        </p:txBody>
      </p:sp>
      <p:sp>
        <p:nvSpPr>
          <p:cNvPr id="20" name="Pentagon 19"/>
          <p:cNvSpPr/>
          <p:nvPr/>
        </p:nvSpPr>
        <p:spPr>
          <a:xfrm>
            <a:off x="2468880" y="5029200"/>
            <a:ext cx="2203704" cy="594360"/>
          </a:xfrm>
          <a:prstGeom prst="homePlat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Missed pickups</a:t>
            </a:r>
          </a:p>
        </p:txBody>
      </p:sp>
      <p:sp>
        <p:nvSpPr>
          <p:cNvPr id="21" name="Chevron 20"/>
          <p:cNvSpPr/>
          <p:nvPr/>
        </p:nvSpPr>
        <p:spPr>
          <a:xfrm>
            <a:off x="4782312" y="5029200"/>
            <a:ext cx="2203704" cy="59436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Street overflow</a:t>
            </a:r>
          </a:p>
        </p:txBody>
      </p:sp>
      <p:sp>
        <p:nvSpPr>
          <p:cNvPr id="22" name="Chevron 21"/>
          <p:cNvSpPr/>
          <p:nvPr/>
        </p:nvSpPr>
        <p:spPr>
          <a:xfrm>
            <a:off x="7095744" y="5029200"/>
            <a:ext cx="2203704" cy="594360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Health &amp; odour risk</a:t>
            </a:r>
          </a:p>
        </p:txBody>
      </p:sp>
      <p:sp>
        <p:nvSpPr>
          <p:cNvPr id="23" name="Chevron 22"/>
          <p:cNvSpPr/>
          <p:nvPr/>
        </p:nvSpPr>
        <p:spPr>
          <a:xfrm>
            <a:off x="9409176" y="5029200"/>
            <a:ext cx="2203704" cy="59436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Citizen distrust</a:t>
            </a:r>
          </a:p>
        </p:txBody>
      </p:sp>
    </p:spTree>
    <p:extLst>
      <p:ext uri="{BB962C8B-B14F-4D97-AF65-F5344CB8AC3E}">
        <p14:creationId xmlns:p14="http://schemas.microsoft.com/office/powerpoint/2010/main" val="5758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1DCD-EEEE-3347-5C0C-10E73A5F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71600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35024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Publish street-level collection schedules for every ward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04288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67712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Report &amp; track complaints via signed 90-day tracking links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36976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00400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Reward verified segregation - Green Points + 4-stream declarations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69664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133088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Digitise PAYT billing with UPI payments and receipts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102352"/>
            <a:ext cx="603504" cy="603504"/>
          </a:xfrm>
          <a:prstGeom prst="ellips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065776"/>
            <a:ext cx="603504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F2A24"/>
                </a:solidFill>
                <a:latin typeface="Calibri"/>
              </a:rPr>
              <a:t>Give admins live telemetry, SLA escalation and audit-grade exports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1B5E3B"/>
                </a:solidFill>
                <a:latin typeface="Calibri"/>
              </a:rPr>
              <a:t>100%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schedule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852928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1B5E3B"/>
                </a:solidFill>
                <a:latin typeface="Calibri"/>
              </a:rPr>
              <a:t>&lt;48h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complaint SLA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334256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1B5E3B"/>
                </a:solidFill>
                <a:latin typeface="Calibri"/>
              </a:rPr>
              <a:t>Rs 0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messaging via WhatsApp</a:t>
            </a:r>
          </a:p>
        </p:txBody>
      </p:sp>
    </p:spTree>
    <p:extLst>
      <p:ext uri="{BB962C8B-B14F-4D97-AF65-F5344CB8AC3E}">
        <p14:creationId xmlns:p14="http://schemas.microsoft.com/office/powerpoint/2010/main" val="221795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FEA8-C384-12D9-AB4F-914A0FC4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5E3B"/>
                </a:solidFill>
                <a:latin typeface="Calibri"/>
              </a:rPr>
              <a:t>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3776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All 5 wards: schedules, reporting, transparency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3 roles - citizen, worker, admin (+ public, no login)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IoT ingestion: HMAC-signed telemetry (ESP32-ready)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WhatsApp reporting bot + status alerts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PAYT invoicing, UPI payment, receipts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PWA offline shell + installable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08760"/>
            <a:ext cx="4754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A6B62"/>
                </a:solidFill>
                <a:latin typeface="Calibri"/>
              </a:rPr>
              <a:t>OUT OF SCOPE (honest boundary)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Native iOS/Android apps (PWA covers installability)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Bin hardware manufacturing (ESP32 firmware is future work)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Wards beyond Chintalavalasa (schema is multi-ward ready)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Property-tax or other Panchayat services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350" b="0">
                <a:solidFill>
                  <a:srgbClr val="1F2A24"/>
                </a:solidFill>
                <a:latin typeface="Calibri"/>
              </a:rPr>
              <a:t>-  Card-on-file payments (UPI/PAYT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77840"/>
            <a:ext cx="11064240" cy="502920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Everything demonstrated in this deck runs on the live deployment - smartgarbage.onrender.com</a:t>
            </a:r>
          </a:p>
        </p:txBody>
      </p:sp>
    </p:spTree>
    <p:extLst>
      <p:ext uri="{BB962C8B-B14F-4D97-AF65-F5344CB8AC3E}">
        <p14:creationId xmlns:p14="http://schemas.microsoft.com/office/powerpoint/2010/main" val="42349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9C14-2B02-B270-5179-DFDBCC78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 Background 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4124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Notice boards / word-of-mouth</a:t>
                      </a:r>
                    </a:p>
                  </a:txBody>
                  <a:tcPr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Generic municipal apps</a:t>
                      </a:r>
                    </a:p>
                  </a:txBody>
                  <a:tcPr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SmartGarbage</a:t>
                      </a:r>
                    </a:p>
                  </a:txBody>
                  <a:tcPr>
                    <a:solidFill>
                      <a:srgbClr val="1B5E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Schedule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Paper only, no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City-level, no wards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5E3B"/>
                          </a:solidFill>
                          <a:latin typeface="Calibri"/>
                        </a:rPr>
                        <a:t>Street-level, per ward,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Complaint tracking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Email, no SLA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5E3B"/>
                          </a:solidFill>
                          <a:latin typeface="Calibri"/>
                        </a:rPr>
                        <a:t>Signed link + 48h SLA + auto-escalation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Incentives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5E3B"/>
                          </a:solidFill>
                          <a:latin typeface="Calibri"/>
                        </a:rPr>
                        <a:t>Green Points + PAYT 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Data for planning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24"/>
                          </a:solidFill>
                          <a:latin typeface="Calibri"/>
                        </a:rPr>
                        <a:t>Siloed dashboards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5E3B"/>
                          </a:solidFill>
                          <a:latin typeface="Calibri"/>
                        </a:rPr>
                        <a:t>Live telemetry + ML ETA + state exports</a:t>
                      </a:r>
                    </a:p>
                  </a:txBody>
                  <a:tcPr>
                    <a:solidFill>
                      <a:srgbClr val="EEF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Positioning: ward-level accountability + incentives + live data - the three gaps in existing systems</a:t>
            </a:r>
          </a:p>
        </p:txBody>
      </p:sp>
    </p:spTree>
    <p:extLst>
      <p:ext uri="{BB962C8B-B14F-4D97-AF65-F5344CB8AC3E}">
        <p14:creationId xmlns:p14="http://schemas.microsoft.com/office/powerpoint/2010/main" val="115011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CCA-37C5-B802-67BD-50809562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Gathered/ Data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20240" y="1645920"/>
            <a:ext cx="777240" cy="777240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400" b="0">
                <a:solidFill>
                  <a:srgbClr val="1B5E3B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B5E3B"/>
                </a:solidFill>
                <a:latin typeface="Calibri"/>
              </a:rPr>
              <a:t>Field survey (primary)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31089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Ward boundaries, street-level schedules (10 rows), stakeholder interviews, helpline &amp; contacts - from direct field observation.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15000" y="1645920"/>
            <a:ext cx="777240" cy="777240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400" b="0">
                <a:solidFill>
                  <a:srgbClr val="1B5E3B"/>
                </a:solidFill>
                <a:latin typeface="Calibr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B5E3B"/>
                </a:solidFill>
                <a:latin typeface="Calibri"/>
              </a:rPr>
              <a:t>IoT telemetry (live path)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63240"/>
            <a:ext cx="31089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Fill %, temperature, methane ppm, battery, tilt from 10 bins - HMAC-signed pings into PostgreSQL via the production ingestion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0" y="1645920"/>
            <a:ext cx="777240" cy="777240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2400" b="0">
                <a:solidFill>
                  <a:srgbClr val="1B5E3B"/>
                </a:solidFill>
                <a:latin typeface="Calibr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060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B5E3B"/>
                </a:solidFill>
                <a:latin typeface="Calibri"/>
              </a:rPr>
              <a:t>Synthetic history (disclosed)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063240"/>
            <a:ext cx="310896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600-row, 48-hour ramping grid per bin gives the fill-rate model velocity on a fresh install - documented as a limitation; retrains on live pings.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No Panchayat stores last year's per-bin history - we say so, size models to the data, and retrain automatically as real pings accumulate.</a:t>
            </a:r>
          </a:p>
        </p:txBody>
      </p:sp>
    </p:spTree>
    <p:extLst>
      <p:ext uri="{BB962C8B-B14F-4D97-AF65-F5344CB8AC3E}">
        <p14:creationId xmlns:p14="http://schemas.microsoft.com/office/powerpoint/2010/main" val="39967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110-51AF-7502-51AC-6C218D29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System Design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1106424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57800"/>
            <a:ext cx="11064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End-to-end workflow: every arrow is an implemented endpoint, queue job or DB write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5715000"/>
            <a:ext cx="2125065" cy="548640"/>
          </a:xfrm>
          <a:prstGeom prst="homePlat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Intake (web | WhatsApp | IoT)</a:t>
            </a:r>
          </a:p>
        </p:txBody>
      </p:sp>
      <p:sp>
        <p:nvSpPr>
          <p:cNvPr id="6" name="Chevron 5"/>
          <p:cNvSpPr/>
          <p:nvPr/>
        </p:nvSpPr>
        <p:spPr>
          <a:xfrm>
            <a:off x="2783433" y="5715000"/>
            <a:ext cx="2125065" cy="54864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Validate &amp; sign</a:t>
            </a:r>
          </a:p>
        </p:txBody>
      </p:sp>
      <p:sp>
        <p:nvSpPr>
          <p:cNvPr id="7" name="Chevron 6"/>
          <p:cNvSpPr/>
          <p:nvPr/>
        </p:nvSpPr>
        <p:spPr>
          <a:xfrm>
            <a:off x="5018227" y="5715000"/>
            <a:ext cx="2125065" cy="548640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Store (PostgreSQL)</a:t>
            </a:r>
          </a:p>
        </p:txBody>
      </p:sp>
      <p:sp>
        <p:nvSpPr>
          <p:cNvPr id="8" name="Chevron 7"/>
          <p:cNvSpPr/>
          <p:nvPr/>
        </p:nvSpPr>
        <p:spPr>
          <a:xfrm>
            <a:off x="7253020" y="5715000"/>
            <a:ext cx="2125065" cy="54864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Learn (ML)</a:t>
            </a:r>
          </a:p>
        </p:txBody>
      </p:sp>
      <p:sp>
        <p:nvSpPr>
          <p:cNvPr id="9" name="Chevron 8"/>
          <p:cNvSpPr/>
          <p:nvPr/>
        </p:nvSpPr>
        <p:spPr>
          <a:xfrm>
            <a:off x="9487814" y="5715000"/>
            <a:ext cx="2125065" cy="548640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Act (routes | alerts | SLA)</a:t>
            </a:r>
          </a:p>
        </p:txBody>
      </p:sp>
    </p:spTree>
    <p:extLst>
      <p:ext uri="{BB962C8B-B14F-4D97-AF65-F5344CB8AC3E}">
        <p14:creationId xmlns:p14="http://schemas.microsoft.com/office/powerpoint/2010/main" val="31958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D49-10AC-9C01-4FAD-F7330B2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System Design (cont.)</a:t>
            </a:r>
            <a:endParaRPr lang="en-IN" dirty="0"/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7223760" cy="48920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01000" y="1417320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83879" y="1463040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1 |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746504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Forms, WhatsApp bot, HMAC IoT pings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258568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304288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2 |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87752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9 Flask route modules, CSRF + rate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099816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145536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3 |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42900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PostgreSQL | 23 tables | Alembic x29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941064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3986784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4 |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270248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ETA | anomaly | miss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782312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4828032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5 | 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111496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Socket.IO dashboards | SSE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5623560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5669280"/>
            <a:ext cx="33832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B5E3B"/>
                </a:solidFill>
                <a:latin typeface="Calibri"/>
              </a:rPr>
              <a:t>6 | 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952744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A6B62"/>
                </a:solidFill>
                <a:latin typeface="Calibri"/>
              </a:rPr>
              <a:t>Docker on Render | /health | PWA</a:t>
            </a:r>
          </a:p>
        </p:txBody>
      </p:sp>
    </p:spTree>
    <p:extLst>
      <p:ext uri="{BB962C8B-B14F-4D97-AF65-F5344CB8AC3E}">
        <p14:creationId xmlns:p14="http://schemas.microsoft.com/office/powerpoint/2010/main" val="103954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37D2-C055-A0AE-76BE-F053AD2C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Modules</a:t>
            </a:r>
          </a:p>
        </p:txBody>
      </p:sp>
      <p:pic>
        <p:nvPicPr>
          <p:cNvPr id="3" name="Picture 2" descr="database_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12648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623560"/>
            <a:ext cx="61264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23-table relational schema (Alembic-managed, 29 migrations)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1463040"/>
            <a:ext cx="46634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78040" y="1645920"/>
            <a:ext cx="566928" cy="56692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B5E3B"/>
                </a:solidFill>
                <a:latin typeface="Calibri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527048"/>
            <a:ext cx="36576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Public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901952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Schedules, transparency, FAQ, search - no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2542032"/>
            <a:ext cx="46634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78040" y="2724912"/>
            <a:ext cx="566928" cy="56692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B5E3B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606040"/>
            <a:ext cx="36576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Citizen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980944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Complaints + tracking, declarations, PAYT, Green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3621024"/>
            <a:ext cx="46634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3803904"/>
            <a:ext cx="566928" cy="56692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B5E3B"/>
                </a:solidFill>
                <a:latin typeface="Calibri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685032"/>
            <a:ext cx="36576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059935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Route, geofence enforcement, offload proof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4700016"/>
            <a:ext cx="46634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4882896"/>
            <a:ext cx="566928" cy="566928"/>
          </a:xfrm>
          <a:prstGeom prst="ellipse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B5E3B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764024"/>
            <a:ext cx="365760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138928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Control room: incidents, SLA, OTA firmware, exports</a:t>
            </a:r>
          </a:p>
        </p:txBody>
      </p:sp>
    </p:spTree>
    <p:extLst>
      <p:ext uri="{BB962C8B-B14F-4D97-AF65-F5344CB8AC3E}">
        <p14:creationId xmlns:p14="http://schemas.microsoft.com/office/powerpoint/2010/main" val="309816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4440" y="1417320"/>
            <a:ext cx="9692640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5431536"/>
            <a:ext cx="9692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9 blueprints | 131 routes | 23 tables | 29 Alembic migrations | gunicorn + gevent x2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5669280"/>
            <a:ext cx="2125065" cy="566928"/>
          </a:xfrm>
          <a:prstGeom prst="homePlat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git push</a:t>
            </a:r>
          </a:p>
        </p:txBody>
      </p:sp>
      <p:sp>
        <p:nvSpPr>
          <p:cNvPr id="6" name="Chevron 5"/>
          <p:cNvSpPr/>
          <p:nvPr/>
        </p:nvSpPr>
        <p:spPr>
          <a:xfrm>
            <a:off x="2783433" y="5669280"/>
            <a:ext cx="2125065" cy="566928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Docker build</a:t>
            </a:r>
          </a:p>
        </p:txBody>
      </p:sp>
      <p:sp>
        <p:nvSpPr>
          <p:cNvPr id="7" name="Chevron 6"/>
          <p:cNvSpPr/>
          <p:nvPr/>
        </p:nvSpPr>
        <p:spPr>
          <a:xfrm>
            <a:off x="5018227" y="5669280"/>
            <a:ext cx="2125065" cy="566928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flask db upgrade</a:t>
            </a:r>
          </a:p>
        </p:txBody>
      </p:sp>
      <p:sp>
        <p:nvSpPr>
          <p:cNvPr id="8" name="Chevron 7"/>
          <p:cNvSpPr/>
          <p:nvPr/>
        </p:nvSpPr>
        <p:spPr>
          <a:xfrm>
            <a:off x="7253020" y="5669280"/>
            <a:ext cx="2125065" cy="566928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gunicorn + gevent x2</a:t>
            </a:r>
          </a:p>
        </p:txBody>
      </p:sp>
      <p:sp>
        <p:nvSpPr>
          <p:cNvPr id="9" name="Chevron 8"/>
          <p:cNvSpPr/>
          <p:nvPr/>
        </p:nvSpPr>
        <p:spPr>
          <a:xfrm>
            <a:off x="9487814" y="5669280"/>
            <a:ext cx="2125065" cy="566928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/health OK</a:t>
            </a:r>
          </a:p>
        </p:txBody>
      </p:sp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Live Portal (Every Feature)</a:t>
            </a:r>
          </a:p>
        </p:txBody>
      </p:sp>
      <p:pic>
        <p:nvPicPr>
          <p:cNvPr id="3" name="Picture 2" descr="sg_home_1280_3.85x2.08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640" y="1371600"/>
            <a:ext cx="3520440" cy="19019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327355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pic>
        <p:nvPicPr>
          <p:cNvPr id="5" name="Picture 4" descr="sg_schedule_1280_3.85x2.08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43400" y="1371600"/>
            <a:ext cx="3520440" cy="19019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343400" y="327355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Schedule lookup</a:t>
            </a:r>
          </a:p>
        </p:txBody>
      </p:sp>
      <p:pic>
        <p:nvPicPr>
          <p:cNvPr id="7" name="Picture 6" descr="sg_report_1280_3.85x2.08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38160" y="1371600"/>
            <a:ext cx="3520440" cy="1901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327355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Report &amp; WhatsApp</a:t>
            </a:r>
          </a:p>
        </p:txBody>
      </p:sp>
      <p:pic>
        <p:nvPicPr>
          <p:cNvPr id="9" name="Picture 8" descr="sg_transparency_1280_3.85x2.0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8640" y="3794760"/>
            <a:ext cx="3520440" cy="19019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69671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Transparency</a:t>
            </a:r>
          </a:p>
        </p:txBody>
      </p:sp>
      <p:pic>
        <p:nvPicPr>
          <p:cNvPr id="11" name="Picture 10" descr="sg_impact_1280_3.85x2.08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43400" y="3794760"/>
            <a:ext cx="3520440" cy="19019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43400" y="569671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pic>
        <p:nvPicPr>
          <p:cNvPr id="13" name="Picture 12" descr="sg_track_1280_3.85x2.08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38160" y="3794760"/>
            <a:ext cx="3520440" cy="19019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38160" y="5696712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Complaint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Captured from the live deployment - desktop PWA (1280px)</a:t>
            </a:r>
          </a:p>
        </p:txBody>
      </p:sp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C339-7109-22A2-C449-4EAB8CD8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Assessment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3000" b="1">
                <a:solidFill>
                  <a:srgbClr val="1B5E3B"/>
                </a:solidFill>
                <a:latin typeface="Calibri"/>
              </a:rPr>
              <a:t>~12k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residents served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64992" y="1325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3000" b="1">
                <a:solidFill>
                  <a:srgbClr val="1B5E3B"/>
                </a:solidFill>
                <a:latin typeface="Calibri"/>
              </a:rPr>
              <a:t>5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wards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325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3000" b="1">
                <a:solidFill>
                  <a:srgbClr val="1B5E3B"/>
                </a:solidFill>
                <a:latin typeface="Calibri"/>
              </a:rPr>
              <a:t>23 / 29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tables / migrations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97696" y="1325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3000" b="1">
                <a:solidFill>
                  <a:srgbClr val="1B5E3B"/>
                </a:solidFill>
                <a:latin typeface="Calibri"/>
              </a:rPr>
              <a:t>359</a:t>
            </a:r>
          </a:p>
          <a:p>
            <a:pPr algn="ctr"/>
            <a:r>
              <a:rPr sz="1100">
                <a:solidFill>
                  <a:srgbClr val="5A6B62"/>
                </a:solidFill>
                <a:latin typeface="Calibri"/>
              </a:rPr>
              <a:t>tests green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34290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1B5E3B"/>
                </a:solidFill>
                <a:latin typeface="Calibri"/>
              </a:rPr>
              <a:t>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154680"/>
            <a:ext cx="4297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566160"/>
            <a:ext cx="429768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Audit trail on every privileged action; CSV/JSON state-compliance exports.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30632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56247" y="34290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1B5E3B"/>
                </a:solidFill>
                <a:latin typeface="Calibri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19" y="3154680"/>
            <a:ext cx="4297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3566160"/>
            <a:ext cx="429768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PAYT + 4-stream declarations steer waste to compost/recycle, not landfill.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50292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1B5E3B"/>
                </a:solidFill>
                <a:latin typeface="Calibri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54879"/>
            <a:ext cx="4297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166359"/>
            <a:ext cx="429768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WhatsApp-first access - no app store, works on basic Android; offline PWA shell.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46634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6247" y="50292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1B5E3B"/>
                </a:solidFill>
                <a:latin typeface="Calibri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4754879"/>
            <a:ext cx="4297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B5E3B"/>
                </a:solidFill>
                <a:latin typeface="Calibri"/>
              </a:rPr>
              <a:t>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5166359"/>
            <a:ext cx="429768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Queue with retries + dead-letter alerts; /health; Prometheus-style metrics.</a:t>
            </a:r>
          </a:p>
        </p:txBody>
      </p:sp>
    </p:spTree>
    <p:extLst>
      <p:ext uri="{BB962C8B-B14F-4D97-AF65-F5344CB8AC3E}">
        <p14:creationId xmlns:p14="http://schemas.microsoft.com/office/powerpoint/2010/main" val="1549317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4A12-A0D7-06D5-FBC6-343B3FF8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43891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2A541"/>
                </a:solidFill>
                <a:latin typeface="Calibri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4389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A24"/>
                </a:solidFill>
                <a:latin typeface="Calibri"/>
              </a:rPr>
              <a:t>No historical bin telemetry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532120" y="1874520"/>
            <a:ext cx="868680" cy="411480"/>
          </a:xfrm>
          <a:prstGeom prst="rightArrow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7960" y="1463040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72768"/>
            <a:ext cx="46177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5E3B"/>
                </a:solidFill>
                <a:latin typeface="Calibri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47088"/>
            <a:ext cx="4617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A24"/>
                </a:solidFill>
                <a:latin typeface="Calibri"/>
              </a:rPr>
              <a:t>600-row synthetic grid + auto-retrain on live pings - limitation disclosed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44368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54096"/>
            <a:ext cx="43891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2A541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28416"/>
            <a:ext cx="4389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A24"/>
                </a:solidFill>
                <a:latin typeface="Calibri"/>
              </a:rPr>
              <a:t>Free tier: no worker service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32120" y="3355848"/>
            <a:ext cx="868680" cy="411480"/>
          </a:xfrm>
          <a:prstGeom prst="rightArrow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944368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054096"/>
            <a:ext cx="46177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5E3B"/>
                </a:solidFill>
                <a:latin typeface="Calibri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28416"/>
            <a:ext cx="4617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A24"/>
                </a:solidFill>
                <a:latin typeface="Calibri"/>
              </a:rPr>
              <a:t>In-process RQ worker, retry policies, dead-letter alerts, /health probes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25696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35424"/>
            <a:ext cx="43891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2A541"/>
                </a:solidFill>
                <a:latin typeface="Calibri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9744"/>
            <a:ext cx="43891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F2A24"/>
                </a:solidFill>
                <a:latin typeface="Calibri"/>
              </a:rPr>
              <a:t>1 vCPU page-load stalls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532120" y="4837176"/>
            <a:ext cx="868680" cy="411480"/>
          </a:xfrm>
          <a:prstGeom prst="rightArrow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4425696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535424"/>
            <a:ext cx="46177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5E3B"/>
                </a:solidFill>
                <a:latin typeface="Calibri"/>
              </a:rPr>
              <a:t>OUR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809744"/>
            <a:ext cx="461772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A24"/>
                </a:solidFill>
                <a:latin typeface="Calibri"/>
              </a:rPr>
              <a:t>gevent x2 workers, compression, Redis cache, offline PWA shell</a:t>
            </a:r>
          </a:p>
        </p:txBody>
      </p:sp>
    </p:spTree>
    <p:extLst>
      <p:ext uri="{BB962C8B-B14F-4D97-AF65-F5344CB8AC3E}">
        <p14:creationId xmlns:p14="http://schemas.microsoft.com/office/powerpoint/2010/main" val="4236308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16F3-F74C-A352-259B-B4A788B5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6309360" cy="2743200"/>
          </a:xfrm>
          <a:prstGeom prst="roundRect">
            <a:avLst>
              <a:gd name="adj" fmla="val 6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SmartGarbage replaces a notice board and a phone tree with one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accountable, data-producing channel - schedules people can trust,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complaints that cannot vanish, and operations data the Panchayat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can finally act 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B5E3B"/>
                </a:solidFill>
                <a:latin typeface="Calibri"/>
              </a:rPr>
              <a:t>One accountable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1488" y="457200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B5E3B"/>
                </a:solidFill>
                <a:latin typeface="Calibri"/>
              </a:rPr>
              <a:t>Data-driven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4336" y="457200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B5E3B"/>
                </a:solidFill>
                <a:latin typeface="Calibri"/>
              </a:rPr>
              <a:t>Ready for the next ward</a:t>
            </a:r>
          </a:p>
        </p:txBody>
      </p:sp>
      <p:pic>
        <p:nvPicPr>
          <p:cNvPr id="7" name="Picture 6" descr="sg_transparency_1280_4.80x3.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54480"/>
            <a:ext cx="438912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4754880"/>
            <a:ext cx="43891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Transparency dashboard - the Panchayat's public 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2A24"/>
                </a:solidFill>
                <a:latin typeface="Calibri"/>
              </a:rPr>
              <a:t>Live: smartgarbage.onrender.com  |  fully open to inspection today</a:t>
            </a:r>
          </a:p>
        </p:txBody>
      </p:sp>
    </p:spTree>
    <p:extLst>
      <p:ext uri="{BB962C8B-B14F-4D97-AF65-F5344CB8AC3E}">
        <p14:creationId xmlns:p14="http://schemas.microsoft.com/office/powerpoint/2010/main" val="183795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0666-1392-9333-3018-8197057B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3" name="Pentagon 2"/>
          <p:cNvSpPr/>
          <p:nvPr/>
        </p:nvSpPr>
        <p:spPr>
          <a:xfrm>
            <a:off x="548640" y="1737360"/>
            <a:ext cx="2683764" cy="914400"/>
          </a:xfrm>
          <a:prstGeom prst="homePlate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ESP32 on real bins</a:t>
            </a:r>
          </a:p>
        </p:txBody>
      </p:sp>
      <p:sp>
        <p:nvSpPr>
          <p:cNvPr id="4" name="Chevron 3"/>
          <p:cNvSpPr/>
          <p:nvPr/>
        </p:nvSpPr>
        <p:spPr>
          <a:xfrm>
            <a:off x="3342132" y="1737360"/>
            <a:ext cx="2683764" cy="91440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Retrain on live pings</a:t>
            </a:r>
          </a:p>
        </p:txBody>
      </p:sp>
      <p:sp>
        <p:nvSpPr>
          <p:cNvPr id="5" name="Chevron 4"/>
          <p:cNvSpPr/>
          <p:nvPr/>
        </p:nvSpPr>
        <p:spPr>
          <a:xfrm>
            <a:off x="6135624" y="1737360"/>
            <a:ext cx="2683764" cy="914400"/>
          </a:xfrm>
          <a:prstGeom prst="chevron">
            <a:avLst/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Nightly route optimisation</a:t>
            </a:r>
          </a:p>
        </p:txBody>
      </p:sp>
      <p:sp>
        <p:nvSpPr>
          <p:cNvPr id="6" name="Chevron 5"/>
          <p:cNvSpPr/>
          <p:nvPr/>
        </p:nvSpPr>
        <p:spPr>
          <a:xfrm>
            <a:off x="8929116" y="1737360"/>
            <a:ext cx="2683764" cy="914400"/>
          </a:xfrm>
          <a:prstGeom prst="chevron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District rollout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200400"/>
            <a:ext cx="22860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A541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204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OTA firmware channel already ships in the admin console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0175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3200400"/>
            <a:ext cx="22860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A541"/>
                </a:solidFill>
                <a:latin typeface="Calibr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35204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model_retraining_job swaps the synthetic grid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0175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3200400"/>
            <a:ext cx="22860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A541"/>
                </a:solidFill>
                <a:latin typeface="Calibri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5204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ETA + miss predictions blended into worker routes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301752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3200400"/>
            <a:ext cx="22860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2A541"/>
                </a:solidFill>
                <a:latin typeface="Calibri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3520440"/>
            <a:ext cx="22860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Multi-panchayat schema is already ward-scoped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B5E3B"/>
                </a:solidFill>
                <a:latin typeface="Calibri"/>
              </a:rPr>
              <a:t>Each step reuses what already ships - no rewrite, only new data and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889306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AD2F-7B2B-C452-DECD-919AEC63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Swachh Bharat Mission (Grameen) Phase-II guidelines, Ministry of Jal Shakti.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Web &amp;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Flask 3.x documentation (Pallets Projects) - application factory, blueprints.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SQLAlchemy 2.0 documentation; Alembic migration framework.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Machine Learning &amp; Predictive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Liu, Ting &amp; Zhou (2008), Isolation Forest, AAAI - the anomaly model actually deployed.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scikit-learn - HistGradientBoostingRegressor (overflow ETA) &amp; IsolationForest (anomaly detection), as used in app/ml_model.py.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3172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Anagnostopoulos et al. (2015), Waste Management 45, 34-41 - IoT bin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20040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Chen et al. (2020) - ensemble learning for short-term waste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Accessibility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937760"/>
            <a:ext cx="53949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1F2A24"/>
                </a:solidFill>
                <a:latin typeface="Calibri"/>
              </a:rPr>
              <a:t>-  WCAG 2.1 Level AA (W3C); OWASP Top 10 and secure-headers project.</a:t>
            </a:r>
          </a:p>
        </p:txBody>
      </p:sp>
    </p:spTree>
    <p:extLst>
      <p:ext uri="{BB962C8B-B14F-4D97-AF65-F5344CB8AC3E}">
        <p14:creationId xmlns:p14="http://schemas.microsoft.com/office/powerpoint/2010/main" val="365937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11680" y="1737360"/>
            <a:ext cx="8138160" cy="3108960"/>
          </a:xfrm>
          <a:prstGeom prst="roundRect">
            <a:avLst>
              <a:gd name="adj" fmla="val 6000"/>
            </a:avLst>
          </a:prstGeom>
          <a:solidFill>
            <a:srgbClr val="1B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Open Floor for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94760" y="521208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2A24"/>
                </a:solidFill>
                <a:latin typeface="Calibri"/>
              </a:rPr>
              <a:t>Live demo: smartgarbage.onrender.com</a:t>
            </a:r>
          </a:p>
        </p:txBody>
      </p:sp>
    </p:spTree>
    <p:extLst>
      <p:ext uri="{BB962C8B-B14F-4D97-AF65-F5344CB8AC3E}">
        <p14:creationId xmlns:p14="http://schemas.microsoft.com/office/powerpoint/2010/main" val="281357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2061</Words>
  <Application>Microsoft Office PowerPoint</Application>
  <PresentationFormat>Widescreen</PresentationFormat>
  <Paragraphs>209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               Community Project  Branch: CSE-Artificial Intelligence &amp; Machine Learning Department: Data Engineering  Semester: V    Section: A          Regulation: R24             Course Code: R24MSCSP001</vt:lpstr>
      <vt:lpstr>Abstract</vt:lpstr>
      <vt:lpstr>Introduction</vt:lpstr>
      <vt:lpstr>Problem Statement </vt:lpstr>
      <vt:lpstr>Project Objectives </vt:lpstr>
      <vt:lpstr>Project Scope </vt:lpstr>
      <vt:lpstr>Literature Review/ Background Study</vt:lpstr>
      <vt:lpstr>Data Gathered/ Data Used</vt:lpstr>
      <vt:lpstr>Methodology / System Design</vt:lpstr>
      <vt:lpstr>Methodology/ System Design(cont.)</vt:lpstr>
      <vt:lpstr>Implementation / Modules</vt:lpstr>
      <vt:lpstr>Results (Full) / Screenshots </vt:lpstr>
      <vt:lpstr>Impact Assessment </vt:lpstr>
      <vt:lpstr>Challenges Faced </vt:lpstr>
      <vt:lpstr>Conclusion </vt:lpstr>
      <vt:lpstr>Future Work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Project  Branch: CSE-Artificial Intelligence &amp; Machine Learning Department: Data Engineering  Semester: V    Section: A          Regulation: R24             Course Code: R24MSCSP001</dc:title>
  <dc:creator>Sushma Vatekar</dc:creator>
  <cp:lastModifiedBy>Chandini Mopada</cp:lastModifiedBy>
  <cp:revision>7</cp:revision>
  <dcterms:created xsi:type="dcterms:W3CDTF">2025-09-22T15:29:51Z</dcterms:created>
  <dcterms:modified xsi:type="dcterms:W3CDTF">2026-07-03T18:10:12Z</dcterms:modified>
</cp:coreProperties>
</file>